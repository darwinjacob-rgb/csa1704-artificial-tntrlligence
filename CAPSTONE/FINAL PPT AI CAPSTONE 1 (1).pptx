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61" r:id="rId8"/>
    <p:sldId id="262" r:id="rId9"/>
    <p:sldId id="263" r:id="rId10"/>
    <p:sldId id="285" r:id="rId11"/>
    <p:sldId id="284" r:id="rId12"/>
    <p:sldId id="264" r:id="rId13"/>
    <p:sldId id="265" r:id="rId14"/>
    <p:sldId id="266" r:id="rId15"/>
    <p:sldId id="267" r:id="rId16"/>
    <p:sldId id="268" r:id="rId17"/>
    <p:sldId id="277" r:id="rId18"/>
    <p:sldId id="269" r:id="rId19"/>
    <p:sldId id="270" r:id="rId20"/>
    <p:sldId id="271" r:id="rId21"/>
    <p:sldId id="278" r:id="rId22"/>
    <p:sldId id="279" r:id="rId23"/>
    <p:sldId id="280" r:id="rId24"/>
    <p:sldId id="272" r:id="rId25"/>
    <p:sldId id="273" r:id="rId26"/>
    <p:sldId id="274" r:id="rId27"/>
    <p:sldId id="275" r:id="rId28"/>
    <p:sldId id="281" r:id="rId29"/>
    <p:sldId id="282" r:id="rId30"/>
    <p:sldId id="286" r:id="rId31"/>
    <p:sldId id="283" r:id="rId32"/>
    <p:sldId id="276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4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4.png"/><Relationship Id="rId6" Type="http://schemas.openxmlformats.org/officeDocument/2006/relationships/image" Target="../media/image21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2"/>
          <p:cNvSpPr/>
          <p:nvPr/>
        </p:nvSpPr>
        <p:spPr>
          <a:xfrm>
            <a:off x="5989320" y="12344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889519" y="3254322"/>
            <a:ext cx="10412962" cy="868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Multi-Modal Logistics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OptimizatioPlatform</a:t>
            </a:r>
            <a:endParaRPr lang="en-US" sz="4000" b="1" dirty="0" err="1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5943600" y="370332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5943600" y="50292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5240"/>
            <a:ext cx="12192000" cy="10896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128000" y="52114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Darwin Jacob N (192511457)</a:t>
            </a:r>
            <a:endParaRPr lang="en-I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Teeka Raman S (192511131)</a:t>
            </a:r>
            <a:endParaRPr lang="en-I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Sheik Mohamed M(192511145)</a:t>
            </a:r>
            <a:endParaRPr lang="en-I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79750" y="2214880"/>
            <a:ext cx="626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CSA1704 Artificial Intelligence</a:t>
            </a:r>
            <a:endParaRPr lang="en-I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57860" y="54883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/>
              <a:t>Guided By</a:t>
            </a:r>
            <a:endParaRPr lang="en-IN" altLang="en-US" b="1"/>
          </a:p>
          <a:p>
            <a:r>
              <a:rPr lang="en-IN" altLang="en-US"/>
              <a:t>Dr M Anoop</a:t>
            </a:r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Introduction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" name="Image 1" descr="/home/claude/proj/assets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1732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Logistics moves goods between suppliers, warehouses, distribution centers, and customers.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Modern supply chains depend on multiple transport modes — Road, Rail, Air, and Sea.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Coordinating these modes needs intelligent planning and timely decisions.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Our platform applies AI and optimization to make logistics data-driven.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4617720"/>
            <a:ext cx="1664208" cy="640080"/>
          </a:xfrm>
          <a:prstGeom prst="roundRect">
            <a:avLst>
              <a:gd name="adj" fmla="val 1714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8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745736"/>
            <a:ext cx="384048" cy="384048"/>
          </a:xfrm>
          <a:prstGeom prst="rect">
            <a:avLst/>
          </a:prstGeom>
        </p:spPr>
      </p:pic>
      <p:pic>
        <p:nvPicPr>
          <p:cNvPr id="9" name="Image 3" descr="/home/claude/proj/asset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9" y="4832147"/>
            <a:ext cx="211226" cy="2112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617720"/>
            <a:ext cx="10424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Multi-modal transportation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2322576" y="4617720"/>
            <a:ext cx="1664208" cy="640080"/>
          </a:xfrm>
          <a:prstGeom prst="roundRect">
            <a:avLst>
              <a:gd name="adj" fmla="val 1714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2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304" y="4745736"/>
            <a:ext cx="384048" cy="384048"/>
          </a:xfrm>
          <a:prstGeom prst="rect">
            <a:avLst/>
          </a:prstGeom>
        </p:spPr>
      </p:pic>
      <p:pic>
        <p:nvPicPr>
          <p:cNvPr id="13" name="Image 5" descr="/home/claude/proj/assets/compa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715" y="4832147"/>
            <a:ext cx="211226" cy="21122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871216" y="4617720"/>
            <a:ext cx="10424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Intelligent route planning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096512" y="4617720"/>
            <a:ext cx="1664208" cy="640080"/>
          </a:xfrm>
          <a:prstGeom prst="roundRect">
            <a:avLst>
              <a:gd name="adj" fmla="val 1714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6" name="Image 6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745736"/>
            <a:ext cx="384048" cy="384048"/>
          </a:xfrm>
          <a:prstGeom prst="rect">
            <a:avLst/>
          </a:prstGeom>
        </p:spPr>
      </p:pic>
      <p:pic>
        <p:nvPicPr>
          <p:cNvPr id="17" name="Image 7" descr="/home/claude/proj/asset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51" y="4832147"/>
            <a:ext cx="211226" cy="21122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45152" y="4617720"/>
            <a:ext cx="10424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optimization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48640" y="5367528"/>
            <a:ext cx="1664208" cy="640080"/>
          </a:xfrm>
          <a:prstGeom prst="roundRect">
            <a:avLst>
              <a:gd name="adj" fmla="val 1714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0" name="Image 8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95544"/>
            <a:ext cx="384048" cy="384048"/>
          </a:xfrm>
          <a:prstGeom prst="rect">
            <a:avLst/>
          </a:prstGeom>
        </p:spPr>
      </p:pic>
      <p:pic>
        <p:nvPicPr>
          <p:cNvPr id="21" name="Image 9" descr="/home/claude/proj/asset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9" y="5581955"/>
            <a:ext cx="211226" cy="21122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097280" y="5367528"/>
            <a:ext cx="10424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AI-based decision support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2322576" y="5367528"/>
            <a:ext cx="1664208" cy="640080"/>
          </a:xfrm>
          <a:prstGeom prst="roundRect">
            <a:avLst>
              <a:gd name="adj" fmla="val 1714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4" name="Image 1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304" y="5495544"/>
            <a:ext cx="384048" cy="384048"/>
          </a:xfrm>
          <a:prstGeom prst="rect">
            <a:avLst/>
          </a:prstGeom>
        </p:spPr>
      </p:pic>
      <p:pic>
        <p:nvPicPr>
          <p:cNvPr id="25" name="Image 11" descr="/home/claude/proj/assets/leaf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715" y="5581955"/>
            <a:ext cx="211226" cy="211226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2871216" y="5367528"/>
            <a:ext cx="10424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Sustainable logistics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640080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Shape 14"/>
          <p:cNvSpPr/>
          <p:nvPr/>
        </p:nvSpPr>
        <p:spPr>
          <a:xfrm>
            <a:off x="6766560" y="1691640"/>
            <a:ext cx="4480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9" name="Text 15"/>
          <p:cNvSpPr/>
          <p:nvPr/>
        </p:nvSpPr>
        <p:spPr>
          <a:xfrm>
            <a:off x="6766560" y="1691640"/>
            <a:ext cx="4480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Supplier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6766560" y="2295144"/>
            <a:ext cx="4480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6766560" y="2569464"/>
            <a:ext cx="4480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2" name="Text 18"/>
          <p:cNvSpPr/>
          <p:nvPr/>
        </p:nvSpPr>
        <p:spPr>
          <a:xfrm>
            <a:off x="6766560" y="2569464"/>
            <a:ext cx="4480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6766560" y="3172968"/>
            <a:ext cx="4480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766560" y="3447288"/>
            <a:ext cx="4480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5" name="Text 21"/>
          <p:cNvSpPr/>
          <p:nvPr/>
        </p:nvSpPr>
        <p:spPr>
          <a:xfrm>
            <a:off x="6766560" y="3447288"/>
            <a:ext cx="4480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Road / Rail / Air / Sea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6766560" y="4050792"/>
            <a:ext cx="4480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3"/>
          <p:cNvSpPr/>
          <p:nvPr/>
        </p:nvSpPr>
        <p:spPr>
          <a:xfrm>
            <a:off x="6766560" y="4325112"/>
            <a:ext cx="4480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8" name="Text 24"/>
          <p:cNvSpPr/>
          <p:nvPr/>
        </p:nvSpPr>
        <p:spPr>
          <a:xfrm>
            <a:off x="6766560" y="4325112"/>
            <a:ext cx="4480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Distribution Center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6766560" y="4928616"/>
            <a:ext cx="44805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766560" y="5202936"/>
            <a:ext cx="448056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41" name="Text 27"/>
          <p:cNvSpPr/>
          <p:nvPr/>
        </p:nvSpPr>
        <p:spPr>
          <a:xfrm>
            <a:off x="6766560" y="5202936"/>
            <a:ext cx="44805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Customer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9"/>
          <p:cNvSpPr/>
          <p:nvPr/>
        </p:nvSpPr>
        <p:spPr>
          <a:xfrm>
            <a:off x="10607040" y="4325112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Abstract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" name="Image 1" descr="/home/claude/proj/assets/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17320"/>
            <a:ext cx="110642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An intelligent web-based system to improve transportation and supply chain operations.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Integrates multiple transport modes with AI-based optimization for route planning, vehicle recommendation, warehouse allocation, and decision-making.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Reduces operational costs and delivery delays while improving resource utilization and sustainability.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324612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8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497580"/>
            <a:ext cx="457200" cy="457200"/>
          </a:xfrm>
          <a:prstGeom prst="rect">
            <a:avLst/>
          </a:prstGeom>
        </p:spPr>
      </p:pic>
      <p:pic>
        <p:nvPicPr>
          <p:cNvPr id="9" name="Image 3" descr="/home/claude/proj/asset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3600450"/>
            <a:ext cx="251460" cy="2514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98448" y="3246120"/>
            <a:ext cx="267004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
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Logistics Planning &amp; Optimization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4334256" y="324612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2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3497580"/>
            <a:ext cx="457200" cy="457200"/>
          </a:xfrm>
          <a:prstGeom prst="rect">
            <a:avLst/>
          </a:prstGeom>
        </p:spPr>
      </p:pic>
      <p:pic>
        <p:nvPicPr>
          <p:cNvPr id="13" name="Image 5" descr="/home/claude/proj/assets/warehou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718" y="3600450"/>
            <a:ext cx="251460" cy="2514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084064" y="3246120"/>
            <a:ext cx="267004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
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Resource &amp; Warehouse Management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119872" y="324612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6" name="Image 6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4" y="3497580"/>
            <a:ext cx="457200" cy="457200"/>
          </a:xfrm>
          <a:prstGeom prst="rect">
            <a:avLst/>
          </a:prstGeom>
        </p:spPr>
      </p:pic>
      <p:pic>
        <p:nvPicPr>
          <p:cNvPr id="17" name="Image 7" descr="/home/claude/proj/asset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334" y="3600450"/>
            <a:ext cx="251460" cy="25146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869680" y="3246120"/>
            <a:ext cx="267004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
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Analytics &amp; Decision Intelligence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PLATFORM FLOW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2505456" y="5376672"/>
            <a:ext cx="320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548640" y="48920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2" name="Shape 12"/>
          <p:cNvSpPr/>
          <p:nvPr/>
        </p:nvSpPr>
        <p:spPr>
          <a:xfrm>
            <a:off x="1325880" y="5056632"/>
            <a:ext cx="402336" cy="402336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23" name="Text 13"/>
          <p:cNvSpPr/>
          <p:nvPr/>
        </p:nvSpPr>
        <p:spPr>
          <a:xfrm>
            <a:off x="1325880" y="5056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21792" y="5577840"/>
            <a:ext cx="1810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Logistics Data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782312" y="5376672"/>
            <a:ext cx="320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2825496" y="48920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3602736" y="5056632"/>
            <a:ext cx="402336" cy="402336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28" name="Text 18"/>
          <p:cNvSpPr/>
          <p:nvPr/>
        </p:nvSpPr>
        <p:spPr>
          <a:xfrm>
            <a:off x="3602736" y="5056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2898648" y="5577840"/>
            <a:ext cx="1810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Processing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7059168" y="5376672"/>
            <a:ext cx="320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5102352" y="48920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5879592" y="5056632"/>
            <a:ext cx="402336" cy="402336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3" name="Text 23"/>
          <p:cNvSpPr/>
          <p:nvPr/>
        </p:nvSpPr>
        <p:spPr>
          <a:xfrm>
            <a:off x="5879592" y="5056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175504" y="5577840"/>
            <a:ext cx="1810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Optimization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9336024" y="5376672"/>
            <a:ext cx="320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7379208" y="48920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156448" y="5056632"/>
            <a:ext cx="402336" cy="402336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8" name="Text 28"/>
          <p:cNvSpPr/>
          <p:nvPr/>
        </p:nvSpPr>
        <p:spPr>
          <a:xfrm>
            <a:off x="8156448" y="5056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7452360" y="5577840"/>
            <a:ext cx="1810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Intelligent Decision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9656064" y="4892040"/>
            <a:ext cx="19568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10433304" y="5056632"/>
            <a:ext cx="402336" cy="402336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42" name="Text 32"/>
          <p:cNvSpPr/>
          <p:nvPr/>
        </p:nvSpPr>
        <p:spPr>
          <a:xfrm>
            <a:off x="10433304" y="50566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9729216" y="5577840"/>
            <a:ext cx="1810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Logistics Performance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Existing System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" name="Image 1" descr="/home/claude/proj/assets/unlin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63040"/>
            <a:ext cx="329184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Manual planning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Static transportation schedules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Spreadsheet-based records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Predefined routes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Separate warehouse systems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Rule-based vehicle selection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Basic reporting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143500" y="2103120"/>
            <a:ext cx="2103120" cy="457200"/>
          </a:xfrm>
          <a:prstGeom prst="line">
            <a:avLst/>
          </a:prstGeom>
          <a:noFill/>
          <a:ln w="19050">
            <a:solidFill>
              <a:srgbClr val="CBB8F5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 flipV="1">
            <a:off x="7246620" y="2103120"/>
            <a:ext cx="2103120" cy="457200"/>
          </a:xfrm>
          <a:prstGeom prst="line">
            <a:avLst/>
          </a:prstGeom>
          <a:noFill/>
          <a:ln w="19050">
            <a:solidFill>
              <a:srgbClr val="CBB8F5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5143500" y="2103120"/>
            <a:ext cx="182880" cy="1737360"/>
          </a:xfrm>
          <a:prstGeom prst="line">
            <a:avLst/>
          </a:prstGeom>
          <a:noFill/>
          <a:ln w="19050">
            <a:solidFill>
              <a:srgbClr val="CBB8F5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9349740" y="2103120"/>
            <a:ext cx="182880" cy="1737360"/>
          </a:xfrm>
          <a:prstGeom prst="line">
            <a:avLst/>
          </a:prstGeom>
          <a:noFill/>
          <a:ln w="19050">
            <a:solidFill>
              <a:srgbClr val="CBB8F5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5326380" y="3840480"/>
            <a:ext cx="4206240" cy="9144"/>
          </a:xfrm>
          <a:prstGeom prst="line">
            <a:avLst/>
          </a:prstGeom>
          <a:noFill/>
          <a:ln w="19050">
            <a:solidFill>
              <a:srgbClr val="CBB8F5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4434840" y="16002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26280" y="160020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Manual Planning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537960" y="20574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629400" y="205740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Spreadsheets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641080" y="160020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732520" y="160020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System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617720" y="333756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709160" y="333756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Transport System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823960" y="3337560"/>
            <a:ext cx="14173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915400" y="3337560"/>
            <a:ext cx="1234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Reporting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434840" y="4709160"/>
            <a:ext cx="5806440" cy="1234440"/>
          </a:xfrm>
          <a:prstGeom prst="roundRect">
            <a:avLst>
              <a:gd name="adj" fmla="val 888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4840" y="4709160"/>
            <a:ext cx="59436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Fragmented Data  →  Limited Intelligence  →  Delayed Decisions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Limitations of Existing System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" name="Image 1" descr="/home/claude/proj/assets/ba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50876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7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502920" cy="502920"/>
          </a:xfrm>
          <a:prstGeom prst="rect">
            <a:avLst/>
          </a:prstGeom>
        </p:spPr>
      </p:pic>
      <p:pic>
        <p:nvPicPr>
          <p:cNvPr id="8" name="Image 3" descr="/home/claude/proj/asset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08810"/>
            <a:ext cx="251460" cy="2514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17320" y="16459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High Cost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1417320" y="198424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Inefficient planning increases transportation expenses.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548640" y="27432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2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17520"/>
            <a:ext cx="502920" cy="502920"/>
          </a:xfrm>
          <a:prstGeom prst="rect">
            <a:avLst/>
          </a:prstGeom>
        </p:spPr>
      </p:pic>
      <p:pic>
        <p:nvPicPr>
          <p:cNvPr id="13" name="Image 5" descr="/home/claude/proj/asset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43250"/>
            <a:ext cx="251460" cy="2514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17320" y="28803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Inefficiency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417320" y="321868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Static planning cannot adapt to changing conditions.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48640" y="39776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7" name="Image 6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502920" cy="502920"/>
          </a:xfrm>
          <a:prstGeom prst="rect">
            <a:avLst/>
          </a:prstGeom>
        </p:spPr>
      </p:pic>
      <p:pic>
        <p:nvPicPr>
          <p:cNvPr id="18" name="Image 7" descr="/home/claude/proj/assets/box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77690"/>
            <a:ext cx="251460" cy="25146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417320" y="41148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Waste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417320" y="445312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Vehicles and warehouse capacity are underutilized.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263640" y="150876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2" name="Image 8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02920" cy="502920"/>
          </a:xfrm>
          <a:prstGeom prst="rect">
            <a:avLst/>
          </a:prstGeom>
        </p:spPr>
      </p:pic>
      <p:pic>
        <p:nvPicPr>
          <p:cNvPr id="23" name="Image 9" descr="/home/claude/proj/asset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1908810"/>
            <a:ext cx="251460" cy="25146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132320" y="16459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Limited Prediction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7132320" y="198424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Traditional systems offer limited forecasting.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6263640" y="27432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7" name="Image 1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017520"/>
            <a:ext cx="502920" cy="502920"/>
          </a:xfrm>
          <a:prstGeom prst="rect">
            <a:avLst/>
          </a:prstGeom>
        </p:spPr>
      </p:pic>
      <p:pic>
        <p:nvPicPr>
          <p:cNvPr id="28" name="Image 11" descr="/home/claude/proj/assets/unlin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3143250"/>
            <a:ext cx="251460" cy="25146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7132320" y="28803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Poor Integration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7132320" y="321868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Transportation and warehouse operations stay disconnected.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6263640" y="39776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2" name="Image 1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51960"/>
            <a:ext cx="502920" cy="502920"/>
          </a:xfrm>
          <a:prstGeom prst="rect">
            <a:avLst/>
          </a:prstGeom>
        </p:spPr>
      </p:pic>
      <p:pic>
        <p:nvPicPr>
          <p:cNvPr id="33" name="Image 13" descr="/home/claude/proj/assets/leaf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4377690"/>
            <a:ext cx="251460" cy="25146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7132320" y="41148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Environmental Impact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7132320" y="445312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Inefficient routes raise fuel use and emissions.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24135F"/>
          </a:solidFill>
        </p:spPr>
      </p:sp>
      <p:sp>
        <p:nvSpPr>
          <p:cNvPr id="37" name="Text 21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Need for an Integrated AI-Powered Logistics Intelligence Platform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Proposed System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" name="Image 1" descr="/home/claude/proj/assets/site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1732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The proposed platform integrates transportation, warehouse, vehicle, and operational data into a centralized AI-driven environment.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233172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Multi-modal route optimization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Shipment planning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recommendation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allocation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&amp; cost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Carbon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Predictive intelligence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logistics assistant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40680" y="1417320"/>
            <a:ext cx="6172200" cy="502920"/>
          </a:xfrm>
          <a:prstGeom prst="roundRect">
            <a:avLst>
              <a:gd name="adj" fmla="val 21818"/>
            </a:avLst>
          </a:prstGeom>
          <a:solidFill>
            <a:srgbClr val="F7F5FC"/>
          </a:solidFill>
        </p:spPr>
      </p:sp>
      <p:sp>
        <p:nvSpPr>
          <p:cNvPr id="9" name="Text 5"/>
          <p:cNvSpPr/>
          <p:nvPr/>
        </p:nvSpPr>
        <p:spPr>
          <a:xfrm>
            <a:off x="5440680" y="1417320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 INPUT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40680" y="1911096"/>
            <a:ext cx="617220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40680" y="2057400"/>
            <a:ext cx="6172200" cy="548640"/>
          </a:xfrm>
          <a:prstGeom prst="roundRect">
            <a:avLst>
              <a:gd name="adj" fmla="val 20000"/>
            </a:avLst>
          </a:prstGeom>
          <a:solidFill>
            <a:srgbClr val="4F20D8"/>
          </a:solidFill>
        </p:spPr>
      </p:sp>
      <p:sp>
        <p:nvSpPr>
          <p:cNvPr id="12" name="Text 8"/>
          <p:cNvSpPr/>
          <p:nvPr/>
        </p:nvSpPr>
        <p:spPr>
          <a:xfrm>
            <a:off x="5440680" y="2057400"/>
            <a:ext cx="6172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INTELLIGENCE ENGINE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40680" y="2615184"/>
            <a:ext cx="617220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40680" y="278892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4068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543800" y="278892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4380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646920" y="278892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46920" y="27889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ANALYTICS 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440680" y="3300984"/>
            <a:ext cx="617220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440680" y="3474720"/>
            <a:ext cx="6172200" cy="502920"/>
          </a:xfrm>
          <a:prstGeom prst="roundRect">
            <a:avLst>
              <a:gd name="adj" fmla="val 21818"/>
            </a:avLst>
          </a:prstGeom>
          <a:solidFill>
            <a:srgbClr val="F7F5FC"/>
          </a:solidFill>
        </p:spPr>
      </p:sp>
      <p:sp>
        <p:nvSpPr>
          <p:cNvPr id="22" name="Text 18"/>
          <p:cNvSpPr/>
          <p:nvPr/>
        </p:nvSpPr>
        <p:spPr>
          <a:xfrm>
            <a:off x="5440680" y="3474720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INTELLIGENT DECISION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440680" y="3968496"/>
            <a:ext cx="617220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440680" y="4114800"/>
            <a:ext cx="6172200" cy="502920"/>
          </a:xfrm>
          <a:prstGeom prst="roundRect">
            <a:avLst>
              <a:gd name="adj" fmla="val 21818"/>
            </a:avLst>
          </a:prstGeom>
          <a:solidFill>
            <a:srgbClr val="F7F5FC"/>
          </a:solidFill>
        </p:spPr>
      </p:sp>
      <p:sp>
        <p:nvSpPr>
          <p:cNvPr id="25" name="Text 21"/>
          <p:cNvSpPr/>
          <p:nvPr/>
        </p:nvSpPr>
        <p:spPr>
          <a:xfrm>
            <a:off x="5440680" y="4114800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LOGISTICS OPERATIONS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40680" y="4608576"/>
            <a:ext cx="617220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440680" y="4754880"/>
            <a:ext cx="6172200" cy="502920"/>
          </a:xfrm>
          <a:prstGeom prst="roundRect">
            <a:avLst>
              <a:gd name="adj" fmla="val 21818"/>
            </a:avLst>
          </a:prstGeom>
          <a:solidFill>
            <a:srgbClr val="6D28D9"/>
          </a:solidFill>
        </p:spPr>
      </p:sp>
      <p:sp>
        <p:nvSpPr>
          <p:cNvPr id="28" name="Text 24"/>
          <p:cNvSpPr/>
          <p:nvPr/>
        </p:nvSpPr>
        <p:spPr>
          <a:xfrm>
            <a:off x="5440680" y="4754880"/>
            <a:ext cx="6172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PERFORMANCE FEEDBACK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514985"/>
            <a:ext cx="10287000" cy="5826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System Modules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" name="Image 1" descr="/home/claude/proj/assets/lay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" y="14630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4F20D8"/>
          </a:solidFill>
        </p:spPr>
      </p:sp>
      <p:sp>
        <p:nvSpPr>
          <p:cNvPr id="8" name="Shape 4"/>
          <p:cNvSpPr/>
          <p:nvPr/>
        </p:nvSpPr>
        <p:spPr>
          <a:xfrm>
            <a:off x="548640" y="2148840"/>
            <a:ext cx="3611880" cy="685800"/>
          </a:xfrm>
          <a:prstGeom prst="rect">
            <a:avLst/>
          </a:prstGeom>
          <a:solidFill>
            <a:srgbClr val="4F20D8"/>
          </a:solidFill>
        </p:spPr>
      </p:sp>
      <p:sp>
        <p:nvSpPr>
          <p:cNvPr id="9" name="Shape 5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2" descr="/home/claude/proj/assets/rou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92808"/>
            <a:ext cx="466344" cy="4663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17556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8CC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691640" y="2029968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Intelligent Logistics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Planning &amp; Optimization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77240" y="30175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FOCUS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77240" y="324612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Transportation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77240" y="37033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FUNCTIONS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77240" y="3950208"/>
            <a:ext cx="31546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Optimization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Shipment Planning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Recommendation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Transport Mode Selection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361688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361688" y="14630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4F20D8"/>
          </a:solidFill>
        </p:spPr>
      </p:sp>
      <p:sp>
        <p:nvSpPr>
          <p:cNvPr id="19" name="Shape 14"/>
          <p:cNvSpPr/>
          <p:nvPr/>
        </p:nvSpPr>
        <p:spPr>
          <a:xfrm>
            <a:off x="4361688" y="2148840"/>
            <a:ext cx="3611880" cy="685800"/>
          </a:xfrm>
          <a:prstGeom prst="rect">
            <a:avLst/>
          </a:prstGeom>
          <a:solidFill>
            <a:srgbClr val="4F20D8"/>
          </a:solidFill>
        </p:spPr>
      </p:sp>
      <p:sp>
        <p:nvSpPr>
          <p:cNvPr id="20" name="Shape 15"/>
          <p:cNvSpPr/>
          <p:nvPr/>
        </p:nvSpPr>
        <p:spPr>
          <a:xfrm>
            <a:off x="4590288" y="173736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/home/claude/proj/assets/warehous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892808"/>
            <a:ext cx="466344" cy="4663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17556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8CC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504688" y="2029968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Smart Resource &amp;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90288" y="30175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FOCUS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590288" y="324612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4590288" y="37033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FUNCTIONS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590288" y="3950208"/>
            <a:ext cx="31546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Allocation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Capacity Monitoring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Inventory Management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Allocation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8174736" y="14630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174736" y="14630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4F20D8"/>
          </a:solidFill>
        </p:spPr>
      </p:sp>
      <p:sp>
        <p:nvSpPr>
          <p:cNvPr id="30" name="Shape 24"/>
          <p:cNvSpPr/>
          <p:nvPr/>
        </p:nvSpPr>
        <p:spPr>
          <a:xfrm>
            <a:off x="8174736" y="2148840"/>
            <a:ext cx="3611880" cy="685800"/>
          </a:xfrm>
          <a:prstGeom prst="rect">
            <a:avLst/>
          </a:prstGeom>
          <a:solidFill>
            <a:srgbClr val="4F20D8"/>
          </a:solidFill>
        </p:spPr>
      </p:sp>
      <p:sp>
        <p:nvSpPr>
          <p:cNvPr id="31" name="Shape 25"/>
          <p:cNvSpPr/>
          <p:nvPr/>
        </p:nvSpPr>
        <p:spPr>
          <a:xfrm>
            <a:off x="8403336" y="173736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2" name="Image 4" descr="/home/claude/proj/assets/chart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1892808"/>
            <a:ext cx="466344" cy="4663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17736" y="17556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8CC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9317736" y="2029968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Analytics &amp;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Decision Intelligence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8403336" y="30175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FOCUS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8403336" y="324612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Intelligence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8403336" y="37033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FUNCTIONS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8403336" y="3950208"/>
            <a:ext cx="31546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Analytics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Carbon Analytics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Predictive Analytics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Assistant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Intelligent Logistics Planning &amp; Optimization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rou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1732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OBJECTIVE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664208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Identify efficient transportation routes and recommend suitable transportation resources according to shipment requirements.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8640" y="251460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FUNCTIONS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2788920"/>
            <a:ext cx="512064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Shipment planning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optimization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Multi-modal transport selection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recommendation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Delivery time estimation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estimation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48640" y="484632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TRANSPORT MODES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5120640"/>
            <a:ext cx="114300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3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5230368"/>
            <a:ext cx="457200" cy="457200"/>
          </a:xfrm>
          <a:prstGeom prst="rect">
            <a:avLst/>
          </a:prstGeom>
        </p:spPr>
      </p:pic>
      <p:pic>
        <p:nvPicPr>
          <p:cNvPr id="14" name="Image 3" descr="/home/claude/proj/assets/tru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5333238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574243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Road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1828800" y="5120640"/>
            <a:ext cx="114300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7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5230368"/>
            <a:ext cx="457200" cy="457200"/>
          </a:xfrm>
          <a:prstGeom prst="rect">
            <a:avLst/>
          </a:prstGeom>
        </p:spPr>
      </p:pic>
      <p:pic>
        <p:nvPicPr>
          <p:cNvPr id="18" name="Image 5" descr="/home/claude/proj/assets/t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70" y="5333238"/>
            <a:ext cx="251460" cy="2514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828800" y="574243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Rail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108960" y="5120640"/>
            <a:ext cx="114300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1" name="Image 6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860" y="5230368"/>
            <a:ext cx="457200" cy="457200"/>
          </a:xfrm>
          <a:prstGeom prst="rect">
            <a:avLst/>
          </a:prstGeom>
        </p:spPr>
      </p:pic>
      <p:pic>
        <p:nvPicPr>
          <p:cNvPr id="22" name="Image 7" descr="/home/claude/proj/assets/pla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5333238"/>
            <a:ext cx="251460" cy="2514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108960" y="574243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389120" y="5120640"/>
            <a:ext cx="1143000" cy="960120"/>
          </a:xfrm>
          <a:prstGeom prst="roundRect">
            <a:avLst>
              <a:gd name="adj" fmla="val 114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5" name="Image 8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5230368"/>
            <a:ext cx="457200" cy="457200"/>
          </a:xfrm>
          <a:prstGeom prst="rect">
            <a:avLst/>
          </a:prstGeom>
        </p:spPr>
      </p:pic>
      <p:pic>
        <p:nvPicPr>
          <p:cNvPr id="26" name="Image 9" descr="/home/claude/proj/assets/s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890" y="5333238"/>
            <a:ext cx="251460" cy="25146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389120" y="574243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6446520" y="161848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ROUTE MAP  ·  CHENNAI → MUMBAI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6812280" y="2194560"/>
            <a:ext cx="822960" cy="1874520"/>
          </a:xfrm>
          <a:prstGeom prst="line">
            <a:avLst/>
          </a:prstGeom>
          <a:noFill/>
          <a:ln w="19050">
            <a:solidFill>
              <a:srgbClr val="C9BEEA"/>
            </a:solidFill>
            <a:prstDash val="dash"/>
          </a:ln>
        </p:spPr>
      </p:sp>
      <p:sp>
        <p:nvSpPr>
          <p:cNvPr id="31" name="Shape 19"/>
          <p:cNvSpPr/>
          <p:nvPr/>
        </p:nvSpPr>
        <p:spPr>
          <a:xfrm>
            <a:off x="7635240" y="4069080"/>
            <a:ext cx="3017520" cy="228600"/>
          </a:xfrm>
          <a:prstGeom prst="line">
            <a:avLst/>
          </a:prstGeom>
          <a:noFill/>
          <a:ln w="19050">
            <a:solidFill>
              <a:srgbClr val="C9BEEA"/>
            </a:solidFill>
            <a:prstDash val="dash"/>
          </a:ln>
        </p:spPr>
      </p:sp>
      <p:sp>
        <p:nvSpPr>
          <p:cNvPr id="32" name="Shape 20"/>
          <p:cNvSpPr/>
          <p:nvPr/>
        </p:nvSpPr>
        <p:spPr>
          <a:xfrm>
            <a:off x="6812280" y="2194560"/>
            <a:ext cx="2926080" cy="182880"/>
          </a:xfrm>
          <a:prstGeom prst="line">
            <a:avLst/>
          </a:prstGeom>
          <a:noFill/>
          <a:ln w="19050">
            <a:solidFill>
              <a:srgbClr val="C9BEEA"/>
            </a:solidFill>
            <a:prstDash val="dash"/>
          </a:ln>
        </p:spPr>
      </p:sp>
      <p:sp>
        <p:nvSpPr>
          <p:cNvPr id="33" name="Shape 21"/>
          <p:cNvSpPr/>
          <p:nvPr/>
        </p:nvSpPr>
        <p:spPr>
          <a:xfrm>
            <a:off x="9738360" y="2377440"/>
            <a:ext cx="914400" cy="1920240"/>
          </a:xfrm>
          <a:prstGeom prst="line">
            <a:avLst/>
          </a:prstGeom>
          <a:noFill/>
          <a:ln w="19050">
            <a:solidFill>
              <a:srgbClr val="C9BEEA"/>
            </a:solidFill>
            <a:prstDash val="dash"/>
          </a:ln>
        </p:spPr>
      </p:sp>
      <p:sp>
        <p:nvSpPr>
          <p:cNvPr id="34" name="Shape 22"/>
          <p:cNvSpPr/>
          <p:nvPr/>
        </p:nvSpPr>
        <p:spPr>
          <a:xfrm>
            <a:off x="6812280" y="2194560"/>
            <a:ext cx="2011680" cy="914400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8823960" y="3108960"/>
            <a:ext cx="1828800" cy="1188720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6702552" y="2084832"/>
            <a:ext cx="219456" cy="219456"/>
          </a:xfrm>
          <a:prstGeom prst="ellipse">
            <a:avLst/>
          </a:prstGeom>
          <a:solidFill>
            <a:srgbClr val="4F20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5989320" y="232257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CHENNAI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8714232" y="2999232"/>
            <a:ext cx="219456" cy="219456"/>
          </a:xfrm>
          <a:prstGeom prst="ellipse">
            <a:avLst/>
          </a:prstGeom>
          <a:solidFill>
            <a:srgbClr val="4F20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8001000" y="323697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BENGALURU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10543032" y="4187952"/>
            <a:ext cx="219456" cy="219456"/>
          </a:xfrm>
          <a:prstGeom prst="ellipse">
            <a:avLst/>
          </a:prstGeom>
          <a:solidFill>
            <a:srgbClr val="4F20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9829800" y="4425696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MUMBAI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6446520" y="50749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629400" y="5349240"/>
            <a:ext cx="365760" cy="0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7086600" y="521208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AI-Selected Optimal Route (Rail + Road)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3"/>
          <p:cNvSpPr/>
          <p:nvPr/>
        </p:nvSpPr>
        <p:spPr>
          <a:xfrm>
            <a:off x="6629400" y="5715000"/>
            <a:ext cx="365760" cy="0"/>
          </a:xfrm>
          <a:prstGeom prst="line">
            <a:avLst/>
          </a:prstGeom>
          <a:noFill/>
          <a:ln w="19050">
            <a:solidFill>
              <a:srgbClr val="C9BEEA"/>
            </a:solidFill>
            <a:prstDash val="dash"/>
          </a:ln>
        </p:spPr>
      </p:sp>
      <p:sp>
        <p:nvSpPr>
          <p:cNvPr id="46" name="Text 34"/>
          <p:cNvSpPr/>
          <p:nvPr/>
        </p:nvSpPr>
        <p:spPr>
          <a:xfrm>
            <a:off x="7086600" y="557784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Alternative Routes Considered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How Module 01 Works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0876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13232" y="167335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9" name="Text 5"/>
          <p:cNvSpPr/>
          <p:nvPr/>
        </p:nvSpPr>
        <p:spPr>
          <a:xfrm>
            <a:off x="713232" y="16733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85800" y="207568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Source &amp; Destination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163824" y="1869948"/>
            <a:ext cx="201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64992" y="150876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29584" y="167335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4" name="Text 10"/>
          <p:cNvSpPr/>
          <p:nvPr/>
        </p:nvSpPr>
        <p:spPr>
          <a:xfrm>
            <a:off x="3529584" y="16733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502152" y="207568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Shipment Details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80176" y="1869948"/>
            <a:ext cx="201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81344" y="150876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45936" y="167335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9" name="Text 15"/>
          <p:cNvSpPr/>
          <p:nvPr/>
        </p:nvSpPr>
        <p:spPr>
          <a:xfrm>
            <a:off x="6345936" y="16733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318504" y="207568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Available Transport Modes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796528" y="1869948"/>
            <a:ext cx="201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997696" y="150876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162288" y="167335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24" name="Text 20"/>
          <p:cNvSpPr/>
          <p:nvPr/>
        </p:nvSpPr>
        <p:spPr>
          <a:xfrm>
            <a:off x="9162288" y="16733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9134856" y="207568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Generation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8640" y="301752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13232" y="318211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28" name="Text 24"/>
          <p:cNvSpPr/>
          <p:nvPr/>
        </p:nvSpPr>
        <p:spPr>
          <a:xfrm>
            <a:off x="713232" y="3182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85800" y="358444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&amp; Distance Analysis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3163824" y="3378708"/>
            <a:ext cx="201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3364992" y="301752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529584" y="318211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3" name="Text 29"/>
          <p:cNvSpPr/>
          <p:nvPr/>
        </p:nvSpPr>
        <p:spPr>
          <a:xfrm>
            <a:off x="3529584" y="3182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3502152" y="358444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Optimization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5980176" y="3378708"/>
            <a:ext cx="201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6181344" y="301752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345936" y="318211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8" name="Text 34"/>
          <p:cNvSpPr/>
          <p:nvPr/>
        </p:nvSpPr>
        <p:spPr>
          <a:xfrm>
            <a:off x="6345936" y="3182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318504" y="358444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Best Route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796528" y="3378708"/>
            <a:ext cx="2011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8997696" y="3017520"/>
            <a:ext cx="2615184" cy="1051560"/>
          </a:xfrm>
          <a:prstGeom prst="roundRect">
            <a:avLst>
              <a:gd name="adj" fmla="val 10435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9162288" y="3182112"/>
            <a:ext cx="365760" cy="365760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43" name="Text 39"/>
          <p:cNvSpPr/>
          <p:nvPr/>
        </p:nvSpPr>
        <p:spPr>
          <a:xfrm>
            <a:off x="9162288" y="3182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8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9134856" y="3584448"/>
            <a:ext cx="234086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Recommendation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10140696" y="2578608"/>
            <a:ext cx="32918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548640" y="43891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EDE9FE"/>
          </a:solidFill>
        </p:spPr>
      </p:sp>
      <p:sp>
        <p:nvSpPr>
          <p:cNvPr id="47" name="Text 43"/>
          <p:cNvSpPr/>
          <p:nvPr/>
        </p:nvSpPr>
        <p:spPr>
          <a:xfrm>
            <a:off x="822960" y="45537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822960" y="4892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Source  ·  Destination  ·  Cargo Type  ·  Cargo Weight  ·  Delivery Requirement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6217920" y="43891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24135F"/>
          </a:solidFill>
        </p:spPr>
      </p:sp>
      <p:sp>
        <p:nvSpPr>
          <p:cNvPr id="50" name="Text 46"/>
          <p:cNvSpPr/>
          <p:nvPr/>
        </p:nvSpPr>
        <p:spPr>
          <a:xfrm>
            <a:off x="6492240" y="45537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4B5FD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6492240" y="4892040"/>
            <a:ext cx="4846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Optimal Route  ·  Estimated Cost  ·  Delivery Time  ·  Recommended Vehicle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Algorithms Used in Module 01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microchi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554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4F20D8"/>
          </a:solidFill>
        </p:spPr>
      </p:sp>
      <p:sp>
        <p:nvSpPr>
          <p:cNvPr id="9" name="Shape 5"/>
          <p:cNvSpPr/>
          <p:nvPr/>
        </p:nvSpPr>
        <p:spPr>
          <a:xfrm>
            <a:off x="548640" y="2057400"/>
            <a:ext cx="5349240" cy="502920"/>
          </a:xfrm>
          <a:prstGeom prst="rect">
            <a:avLst/>
          </a:prstGeom>
          <a:solidFill>
            <a:srgbClr val="4F20D8"/>
          </a:solidFill>
        </p:spPr>
      </p:sp>
      <p:pic>
        <p:nvPicPr>
          <p:cNvPr id="10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640080" cy="640080"/>
          </a:xfrm>
          <a:prstGeom prst="rect">
            <a:avLst/>
          </a:prstGeom>
        </p:spPr>
      </p:pic>
      <p:pic>
        <p:nvPicPr>
          <p:cNvPr id="11" name="Image 3" descr="/home/claude/proj/asset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4480" y="1755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8CC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554480" y="202996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A* Search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22960" y="27889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PURPOSE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22960" y="3035808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Optimal route selection across the transport network.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822960" y="3611880"/>
            <a:ext cx="4800600" cy="777240"/>
          </a:xfrm>
          <a:prstGeom prst="roundRect">
            <a:avLst>
              <a:gd name="adj" fmla="val 14118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22960" y="3611880"/>
            <a:ext cx="4800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0D8"/>
                </a:solidFill>
                <a:latin typeface="Times New Roman" panose="02020603050405020304" pitchFamily="18" charset="0"/>
                <a:ea typeface="Consolas" panose="020B0609020204030204" pitchFamily="34" charset="-122"/>
                <a:cs typeface="Times New Roman" panose="02020603050405020304" pitchFamily="18" charset="0"/>
              </a:rPr>
              <a:t>f(n) = g(n) + h(n)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2960" y="452628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WHERE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22960" y="4773295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g(n) = Cost from start to node 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h(n) = Estimated cost to destination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f(n) = Total estimated path cost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263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63640" y="1554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6D28D9"/>
          </a:solidFill>
        </p:spPr>
      </p:sp>
      <p:sp>
        <p:nvSpPr>
          <p:cNvPr id="22" name="Shape 16"/>
          <p:cNvSpPr/>
          <p:nvPr/>
        </p:nvSpPr>
        <p:spPr>
          <a:xfrm>
            <a:off x="6263640" y="2057400"/>
            <a:ext cx="5349240" cy="502920"/>
          </a:xfrm>
          <a:prstGeom prst="rect">
            <a:avLst/>
          </a:prstGeom>
          <a:solidFill>
            <a:srgbClr val="6D28D9"/>
          </a:solidFill>
        </p:spPr>
      </p:sp>
      <p:pic>
        <p:nvPicPr>
          <p:cNvPr id="23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640080" cy="640080"/>
          </a:xfrm>
          <a:prstGeom prst="rect">
            <a:avLst/>
          </a:prstGeom>
        </p:spPr>
      </p:pic>
      <p:pic>
        <p:nvPicPr>
          <p:cNvPr id="24" name="Image 5" descr="/home/claude/proj/asset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1890979"/>
            <a:ext cx="332842" cy="33284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1755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DE4F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 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269480" y="202996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Decision Tree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537960" y="27889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PURPOSE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537960" y="3035808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recommendation based on shipment attributes.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537960" y="361188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DECISION FACTORS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537960" y="3913632"/>
            <a:ext cx="4800600" cy="438912"/>
          </a:xfrm>
          <a:prstGeom prst="roundRect">
            <a:avLst>
              <a:gd name="adj" fmla="val 25000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675120" y="4005072"/>
            <a:ext cx="256032" cy="256032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2" name="Text 24"/>
          <p:cNvSpPr/>
          <p:nvPr/>
        </p:nvSpPr>
        <p:spPr>
          <a:xfrm>
            <a:off x="6675120" y="40050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040880" y="3913632"/>
            <a:ext cx="4251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Cargo weight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537960" y="4480560"/>
            <a:ext cx="4800600" cy="438912"/>
          </a:xfrm>
          <a:prstGeom prst="roundRect">
            <a:avLst>
              <a:gd name="adj" fmla="val 25000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675120" y="4572000"/>
            <a:ext cx="256032" cy="256032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6" name="Text 28"/>
          <p:cNvSpPr/>
          <p:nvPr/>
        </p:nvSpPr>
        <p:spPr>
          <a:xfrm>
            <a:off x="6675120" y="45720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7040880" y="4480560"/>
            <a:ext cx="4251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Cargo type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6537960" y="5047488"/>
            <a:ext cx="4800600" cy="438912"/>
          </a:xfrm>
          <a:prstGeom prst="roundRect">
            <a:avLst>
              <a:gd name="adj" fmla="val 25000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675120" y="5138928"/>
            <a:ext cx="256032" cy="256032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40" name="Text 32"/>
          <p:cNvSpPr/>
          <p:nvPr/>
        </p:nvSpPr>
        <p:spPr>
          <a:xfrm>
            <a:off x="6675120" y="51389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7040880" y="5047488"/>
            <a:ext cx="4251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Distance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6537960" y="5614416"/>
            <a:ext cx="4800600" cy="438912"/>
          </a:xfrm>
          <a:prstGeom prst="roundRect">
            <a:avLst>
              <a:gd name="adj" fmla="val 25000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675120" y="5705856"/>
            <a:ext cx="256032" cy="256032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44" name="Text 36"/>
          <p:cNvSpPr/>
          <p:nvPr/>
        </p:nvSpPr>
        <p:spPr>
          <a:xfrm>
            <a:off x="6675120" y="57058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040880" y="5614416"/>
            <a:ext cx="4251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Delivery requirement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01 — Algorithm Working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compa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5532120" cy="3977640"/>
          </a:xfrm>
          <a:prstGeom prst="roundRect">
            <a:avLst>
              <a:gd name="adj" fmla="val 275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1600200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A* SEARCH — NODE EXPANSION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234440" y="2514600"/>
            <a:ext cx="1234440" cy="9144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468880" y="2057400"/>
            <a:ext cx="1280160" cy="457200"/>
          </a:xfrm>
          <a:prstGeom prst="line">
            <a:avLst/>
          </a:prstGeom>
          <a:noFill/>
          <a:ln w="25400">
            <a:solidFill>
              <a:srgbClr val="D8CC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68880" y="2514600"/>
            <a:ext cx="1280160" cy="548640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49040" y="2057400"/>
            <a:ext cx="1234440" cy="9144"/>
          </a:xfrm>
          <a:prstGeom prst="line">
            <a:avLst/>
          </a:prstGeom>
          <a:noFill/>
          <a:ln w="25400">
            <a:solidFill>
              <a:srgbClr val="D8CC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49040" y="3063240"/>
            <a:ext cx="1234440" cy="9144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2057400"/>
            <a:ext cx="685800" cy="457200"/>
          </a:xfrm>
          <a:prstGeom prst="line">
            <a:avLst/>
          </a:prstGeom>
          <a:noFill/>
          <a:ln w="25400">
            <a:solidFill>
              <a:srgbClr val="D8CC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4983480" y="2514600"/>
            <a:ext cx="685800" cy="548640"/>
          </a:xfrm>
          <a:prstGeom prst="line">
            <a:avLst/>
          </a:prstGeom>
          <a:noFill/>
          <a:ln w="38100">
            <a:solidFill>
              <a:srgbClr val="4F20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23060" y="239572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23060" y="23957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880360" y="216712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80360" y="21671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880360" y="267004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880360" y="267004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137660" y="193852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37660" y="19385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137660" y="29443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137660" y="294436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097780" y="216712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97780" y="21671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5097780" y="267004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97780" y="267004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982980" y="2263140"/>
            <a:ext cx="502920" cy="502920"/>
          </a:xfrm>
          <a:prstGeom prst="ellipse">
            <a:avLst/>
          </a:prstGeom>
          <a:solidFill>
            <a:srgbClr val="24135F"/>
          </a:solidFill>
          <a:ln w="22225">
            <a:solidFill>
              <a:srgbClr val="24135F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982980" y="22631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START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2240280" y="2286000"/>
            <a:ext cx="457200" cy="457200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224028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3520440" y="18288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8CCFA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3520440" y="2834640"/>
            <a:ext cx="457200" cy="457200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352044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4754880" y="18288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8CCFA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4754880" y="2834640"/>
            <a:ext cx="457200" cy="457200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475488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5394960" y="2240280"/>
            <a:ext cx="548640" cy="548640"/>
          </a:xfrm>
          <a:prstGeom prst="ellipse">
            <a:avLst/>
          </a:prstGeom>
          <a:solidFill>
            <a:srgbClr val="6D28D9"/>
          </a:solidFill>
          <a:ln w="22225">
            <a:solidFill>
              <a:srgbClr val="6D28D9"/>
            </a:solidFill>
            <a:prstDash val="solid"/>
          </a:ln>
          <a:effectLst>
            <a:outerShdw blurRad="76200" dist="25400" dir="5400000" algn="bl" rotWithShape="0">
              <a:srgbClr val="4F20D8">
                <a:alpha val="18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5394960" y="22402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GOAL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777240" y="3886200"/>
            <a:ext cx="5074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77240" y="395020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20D8"/>
                </a:solidFill>
                <a:latin typeface="Times New Roman" panose="02020603050405020304" pitchFamily="18" charset="0"/>
                <a:ea typeface="Consolas" panose="020B0609020204030204" pitchFamily="34" charset="-122"/>
                <a:cs typeface="Times New Roman" panose="02020603050405020304" pitchFamily="18" charset="0"/>
              </a:rPr>
              <a:t>f(n) = g(n) + h(n)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777240" y="42702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Selected Path:  START → A → C → E → GOAL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77240" y="477316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Total Path Cost = 2 + 3 + 2 + 2 = 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6309360" y="146304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537960" y="160020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DECISION TREE — VEHICLE SELECTION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6720840" y="1993392"/>
            <a:ext cx="44805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720840" y="199339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Cargo Weight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6720840" y="240487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6720840" y="2633472"/>
            <a:ext cx="44805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720840" y="263347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Distance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6720840" y="304495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2"/>
          <p:cNvSpPr/>
          <p:nvPr/>
        </p:nvSpPr>
        <p:spPr>
          <a:xfrm>
            <a:off x="6720840" y="3273552"/>
            <a:ext cx="44805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720840" y="327355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Cargo Type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6720840" y="368503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5"/>
          <p:cNvSpPr/>
          <p:nvPr/>
        </p:nvSpPr>
        <p:spPr>
          <a:xfrm>
            <a:off x="6720840" y="3913632"/>
            <a:ext cx="4480560" cy="420624"/>
          </a:xfrm>
          <a:prstGeom prst="roundRect">
            <a:avLst>
              <a:gd name="adj" fmla="val 26087"/>
            </a:avLst>
          </a:prstGeom>
          <a:solidFill>
            <a:srgbClr val="4F20D8"/>
          </a:solidFill>
          <a:ln w="12700">
            <a:solidFill>
              <a:srgbClr val="4F20D8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720840" y="391363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Recommendation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7"/>
          <p:cNvSpPr/>
          <p:nvPr/>
        </p:nvSpPr>
        <p:spPr>
          <a:xfrm>
            <a:off x="6309360" y="4773168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24135F"/>
          </a:solidFill>
        </p:spPr>
      </p:sp>
      <p:sp>
        <p:nvSpPr>
          <p:cNvPr id="62" name="Text 58"/>
          <p:cNvSpPr/>
          <p:nvPr/>
        </p:nvSpPr>
        <p:spPr>
          <a:xfrm>
            <a:off x="6583680" y="4910328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B5FD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RECOMMENDED OUTPUT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59"/>
          <p:cNvSpPr/>
          <p:nvPr/>
        </p:nvSpPr>
        <p:spPr>
          <a:xfrm>
            <a:off x="6583680" y="5175504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Transport: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 + Road
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Vehicle: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cargo &amp; distance conditions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15" y="578498"/>
            <a:ext cx="11801770" cy="62795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8" name="TextBox 67"/>
          <p:cNvSpPr txBox="1"/>
          <p:nvPr/>
        </p:nvSpPr>
        <p:spPr>
          <a:xfrm flipH="1">
            <a:off x="4831376" y="205273"/>
            <a:ext cx="4928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WINDOW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Smart Resource &amp; Warehouse Management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warehou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41732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OBJECTIVE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664208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Optimize warehouse capacity and allocate resources according to storage requirements and operational constraints.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8640" y="260604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FUNCTIONS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2880360"/>
            <a:ext cx="512064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allocation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Capacity monitoring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Inventory management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Storage optimization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allocation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Constraint monitoring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pic>
        <p:nvPicPr>
          <p:cNvPr id="12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1591056"/>
            <a:ext cx="548640" cy="548640"/>
          </a:xfrm>
          <a:prstGeom prst="rect">
            <a:avLst/>
          </a:prstGeom>
        </p:spPr>
      </p:pic>
      <p:pic>
        <p:nvPicPr>
          <p:cNvPr id="13" name="Image 3" descr="/home/claude/proj/assets/warehou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1714500"/>
            <a:ext cx="301752" cy="301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0" y="15270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132320" y="18379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95% UTILIZED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9646920" y="173736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EDEBF7"/>
          </a:solidFill>
        </p:spPr>
      </p:sp>
      <p:sp>
        <p:nvSpPr>
          <p:cNvPr id="17" name="Shape 11"/>
          <p:cNvSpPr/>
          <p:nvPr/>
        </p:nvSpPr>
        <p:spPr>
          <a:xfrm>
            <a:off x="9646920" y="1737360"/>
            <a:ext cx="1650492" cy="256032"/>
          </a:xfrm>
          <a:prstGeom prst="roundRect">
            <a:avLst>
              <a:gd name="adj" fmla="val 21429"/>
            </a:avLst>
          </a:prstGeom>
          <a:solidFill>
            <a:srgbClr val="FCA5A5"/>
          </a:solidFill>
        </p:spPr>
      </p:sp>
      <p:sp>
        <p:nvSpPr>
          <p:cNvPr id="18" name="Text 12"/>
          <p:cNvSpPr/>
          <p:nvPr/>
        </p:nvSpPr>
        <p:spPr>
          <a:xfrm>
            <a:off x="9646920" y="1481328"/>
            <a:ext cx="173736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95%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263640" y="2468880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pic>
        <p:nvPicPr>
          <p:cNvPr id="20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642616"/>
            <a:ext cx="548640" cy="548640"/>
          </a:xfrm>
          <a:prstGeom prst="rect">
            <a:avLst/>
          </a:prstGeom>
        </p:spPr>
      </p:pic>
      <p:pic>
        <p:nvPicPr>
          <p:cNvPr id="21" name="Image 5" descr="/home/claude/proj/assets/warehou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766060"/>
            <a:ext cx="301752" cy="3017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32320" y="25786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B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132320" y="28895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60% UTILIZED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646920" y="278892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EDEBF7"/>
          </a:solidFill>
        </p:spPr>
      </p:sp>
      <p:sp>
        <p:nvSpPr>
          <p:cNvPr id="25" name="Shape 17"/>
          <p:cNvSpPr/>
          <p:nvPr/>
        </p:nvSpPr>
        <p:spPr>
          <a:xfrm>
            <a:off x="9646920" y="2788920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86EFAC"/>
          </a:solidFill>
        </p:spPr>
      </p:sp>
      <p:sp>
        <p:nvSpPr>
          <p:cNvPr id="26" name="Text 18"/>
          <p:cNvSpPr/>
          <p:nvPr/>
        </p:nvSpPr>
        <p:spPr>
          <a:xfrm>
            <a:off x="9646920" y="2532888"/>
            <a:ext cx="173736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60%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263640" y="3520440"/>
            <a:ext cx="53492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pic>
        <p:nvPicPr>
          <p:cNvPr id="28" name="Image 6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3694176"/>
            <a:ext cx="548640" cy="548640"/>
          </a:xfrm>
          <a:prstGeom prst="rect">
            <a:avLst/>
          </a:prstGeom>
        </p:spPr>
      </p:pic>
      <p:pic>
        <p:nvPicPr>
          <p:cNvPr id="29" name="Image 7" descr="/home/claude/proj/assets/warehou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3817620"/>
            <a:ext cx="301752" cy="30175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32320" y="363016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C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7132320" y="39410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80% UTILIZED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9646920" y="384048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EDEBF7"/>
          </a:solidFill>
        </p:spPr>
      </p:sp>
      <p:sp>
        <p:nvSpPr>
          <p:cNvPr id="33" name="Shape 23"/>
          <p:cNvSpPr/>
          <p:nvPr/>
        </p:nvSpPr>
        <p:spPr>
          <a:xfrm>
            <a:off x="9646920" y="3840480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FDE68A"/>
          </a:solidFill>
        </p:spPr>
      </p:sp>
      <p:sp>
        <p:nvSpPr>
          <p:cNvPr id="34" name="Text 24"/>
          <p:cNvSpPr/>
          <p:nvPr/>
        </p:nvSpPr>
        <p:spPr>
          <a:xfrm>
            <a:off x="9646920" y="3584448"/>
            <a:ext cx="173736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80%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6263640" y="4709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EDE9FE"/>
          </a:solidFill>
        </p:spPr>
      </p:sp>
      <p:pic>
        <p:nvPicPr>
          <p:cNvPr id="36" name="Image 8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882896"/>
            <a:ext cx="530352" cy="530352"/>
          </a:xfrm>
          <a:prstGeom prst="rect">
            <a:avLst/>
          </a:prstGeom>
        </p:spPr>
      </p:pic>
      <p:pic>
        <p:nvPicPr>
          <p:cNvPr id="37" name="Image 9" descr="/home/claude/proj/assets/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849" y="5002225"/>
            <a:ext cx="291694" cy="291694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132320" y="482803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New Shipment Incoming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7132320" y="514807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evaluates capacity, compatibility &amp; priority → selects Warehouse 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How Module 02 Works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46304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687068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9" name="Text 5"/>
          <p:cNvSpPr/>
          <p:nvPr/>
        </p:nvSpPr>
        <p:spPr>
          <a:xfrm>
            <a:off x="685800" y="16870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43000" y="146304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883664" y="2221992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2404872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2628900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4" name="Text 10"/>
          <p:cNvSpPr/>
          <p:nvPr/>
        </p:nvSpPr>
        <p:spPr>
          <a:xfrm>
            <a:off x="685800" y="26289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43000" y="240487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Available Capacity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883664" y="3163824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3346704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570732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9" name="Text 15"/>
          <p:cNvSpPr/>
          <p:nvPr/>
        </p:nvSpPr>
        <p:spPr>
          <a:xfrm>
            <a:off x="685800" y="35707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143000" y="3346704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Inventory Requirements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883664" y="410565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48640" y="4288536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" y="4512564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24" name="Text 20"/>
          <p:cNvSpPr/>
          <p:nvPr/>
        </p:nvSpPr>
        <p:spPr>
          <a:xfrm>
            <a:off x="685800" y="45125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1143000" y="4288536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Define Constraints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657600" y="146304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4F20D8"/>
          </a:solidFill>
          <a:ln w="12700">
            <a:solidFill>
              <a:srgbClr val="4F20D8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794760" y="1687068"/>
            <a:ext cx="329184" cy="3291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8" name="Text 24"/>
          <p:cNvSpPr/>
          <p:nvPr/>
        </p:nvSpPr>
        <p:spPr>
          <a:xfrm>
            <a:off x="3794760" y="16870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251960" y="1463040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CSP Processing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992624" y="2221992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3657600" y="2404872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794760" y="2628900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3" name="Text 29"/>
          <p:cNvSpPr/>
          <p:nvPr/>
        </p:nvSpPr>
        <p:spPr>
          <a:xfrm>
            <a:off x="3794760" y="26289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251960" y="240487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Validation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992624" y="3163824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3657600" y="3346704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794760" y="3570732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8" name="Text 34"/>
          <p:cNvSpPr/>
          <p:nvPr/>
        </p:nvSpPr>
        <p:spPr>
          <a:xfrm>
            <a:off x="3794760" y="35707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7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4251960" y="3346704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Optimal Allocation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4992624" y="410565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3657600" y="4288536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794760" y="4512564"/>
            <a:ext cx="329184" cy="329184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43" name="Text 39"/>
          <p:cNvSpPr/>
          <p:nvPr/>
        </p:nvSpPr>
        <p:spPr>
          <a:xfrm>
            <a:off x="3794760" y="45125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8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4251960" y="4288536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Dashboard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3483864" y="4549140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6903720" y="14630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EDE9FE"/>
          </a:solidFill>
        </p:spPr>
      </p:sp>
      <p:sp>
        <p:nvSpPr>
          <p:cNvPr id="47" name="Text 43"/>
          <p:cNvSpPr/>
          <p:nvPr/>
        </p:nvSpPr>
        <p:spPr>
          <a:xfrm>
            <a:off x="7178040" y="16459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7178040" y="1965960"/>
            <a:ext cx="41605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Warehouse capacity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Inventory requirement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Storage type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Priority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Resource availability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6903720" y="3977640"/>
            <a:ext cx="4709160" cy="2148840"/>
          </a:xfrm>
          <a:prstGeom prst="roundRect">
            <a:avLst>
              <a:gd name="adj" fmla="val 5106"/>
            </a:avLst>
          </a:prstGeom>
          <a:solidFill>
            <a:srgbClr val="24135F"/>
          </a:solidFill>
        </p:spPr>
      </p:sp>
      <p:sp>
        <p:nvSpPr>
          <p:cNvPr id="50" name="Text 46"/>
          <p:cNvSpPr/>
          <p:nvPr/>
        </p:nvSpPr>
        <p:spPr>
          <a:xfrm>
            <a:off x="7178040" y="41605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4B5FD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7178040" y="4480560"/>
            <a:ext cx="41605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Assigned warehouse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Available capacity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Allocation status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Utilization percentage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Algorithms Used in Module 02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proj/assets/microchi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554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4F20D8"/>
          </a:solidFill>
        </p:spPr>
      </p:sp>
      <p:sp>
        <p:nvSpPr>
          <p:cNvPr id="9" name="Shape 5"/>
          <p:cNvSpPr/>
          <p:nvPr/>
        </p:nvSpPr>
        <p:spPr>
          <a:xfrm>
            <a:off x="548640" y="2057400"/>
            <a:ext cx="5349240" cy="502920"/>
          </a:xfrm>
          <a:prstGeom prst="rect">
            <a:avLst/>
          </a:prstGeom>
          <a:solidFill>
            <a:srgbClr val="4F20D8"/>
          </a:solidFill>
        </p:spPr>
      </p:sp>
      <p:pic>
        <p:nvPicPr>
          <p:cNvPr id="10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640080" cy="640080"/>
          </a:xfrm>
          <a:prstGeom prst="rect">
            <a:avLst/>
          </a:prstGeom>
        </p:spPr>
      </p:pic>
      <p:pic>
        <p:nvPicPr>
          <p:cNvPr id="11" name="Image 3" descr="/home/claude/proj/assets/puzz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4480" y="1755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8CC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554480" y="202996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Constraint Satisfaction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22960" y="27889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PURPOSE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22960" y="303580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Find feasible warehouse allocations while satisfying multiple constraints.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22960" y="37033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CORE COMPONENTS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822960" y="4005072"/>
            <a:ext cx="2263140" cy="475488"/>
          </a:xfrm>
          <a:prstGeom prst="roundRect">
            <a:avLst>
              <a:gd name="adj" fmla="val 23077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4005072"/>
            <a:ext cx="22631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Variables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3360420" y="4005072"/>
            <a:ext cx="2263140" cy="475488"/>
          </a:xfrm>
          <a:prstGeom prst="roundRect">
            <a:avLst>
              <a:gd name="adj" fmla="val 23077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360420" y="4005072"/>
            <a:ext cx="22631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Domains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822960" y="4599432"/>
            <a:ext cx="2263140" cy="475488"/>
          </a:xfrm>
          <a:prstGeom prst="roundRect">
            <a:avLst>
              <a:gd name="adj" fmla="val 23077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4599432"/>
            <a:ext cx="22631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Constraints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360420" y="4599432"/>
            <a:ext cx="2263140" cy="475488"/>
          </a:xfrm>
          <a:prstGeom prst="roundRect">
            <a:avLst>
              <a:gd name="adj" fmla="val 23077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360420" y="4599432"/>
            <a:ext cx="22631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Solutions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6263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63640" y="1554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6D28D9"/>
          </a:solidFill>
        </p:spPr>
      </p:sp>
      <p:sp>
        <p:nvSpPr>
          <p:cNvPr id="27" name="Shape 21"/>
          <p:cNvSpPr/>
          <p:nvPr/>
        </p:nvSpPr>
        <p:spPr>
          <a:xfrm>
            <a:off x="6263640" y="2057400"/>
            <a:ext cx="5349240" cy="502920"/>
          </a:xfrm>
          <a:prstGeom prst="rect">
            <a:avLst/>
          </a:prstGeom>
          <a:solidFill>
            <a:srgbClr val="6D28D9"/>
          </a:solidFill>
        </p:spPr>
      </p:sp>
      <p:pic>
        <p:nvPicPr>
          <p:cNvPr id="28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640080" cy="640080"/>
          </a:xfrm>
          <a:prstGeom prst="rect">
            <a:avLst/>
          </a:prstGeom>
        </p:spPr>
      </p:pic>
      <p:pic>
        <p:nvPicPr>
          <p:cNvPr id="29" name="Image 5" descr="/home/claude/proj/assets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189097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1755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DE4F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 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7269480" y="202996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First Order Logic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537960" y="27889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PURPOSE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537960" y="3035808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Validate logistics business rules before finalizing allocation.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537960" y="361188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EXAMPLE RULE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537960" y="3913632"/>
            <a:ext cx="4800600" cy="1737360"/>
          </a:xfrm>
          <a:prstGeom prst="roundRect">
            <a:avLst>
              <a:gd name="adj" fmla="val 6316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766560" y="4142232"/>
            <a:ext cx="4343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903720" y="4142232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20D8"/>
                </a:solidFill>
                <a:latin typeface="Times New Roman" panose="02020603050405020304" pitchFamily="18" charset="0"/>
                <a:ea typeface="Consolas" panose="020B0609020204030204" pitchFamily="34" charset="-122"/>
                <a:cs typeface="Times New Roman" panose="02020603050405020304" pitchFamily="18" charset="0"/>
              </a:rPr>
              <a:t>IF   </a:t>
            </a: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onsolas" panose="020B0609020204030204" pitchFamily="34" charset="-122"/>
                <a:cs typeface="Times New Roman" panose="02020603050405020304" pitchFamily="18" charset="0"/>
              </a:rPr>
              <a:t>Vehicle Capacity ≥ Cargo Weight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766560" y="4700016"/>
            <a:ext cx="4343400" cy="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766560" y="5010912"/>
            <a:ext cx="4343400" cy="566928"/>
          </a:xfrm>
          <a:prstGeom prst="roundRect">
            <a:avLst>
              <a:gd name="adj" fmla="val 19355"/>
            </a:avLst>
          </a:prstGeom>
          <a:solidFill>
            <a:srgbClr val="4F20D8"/>
          </a:solidFill>
        </p:spPr>
      </p:sp>
      <p:sp>
        <p:nvSpPr>
          <p:cNvPr id="40" name="Text 32"/>
          <p:cNvSpPr/>
          <p:nvPr/>
        </p:nvSpPr>
        <p:spPr>
          <a:xfrm>
            <a:off x="6903720" y="5010912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CCFA"/>
                </a:solidFill>
                <a:latin typeface="Times New Roman" panose="02020603050405020304" pitchFamily="18" charset="0"/>
                <a:ea typeface="Consolas" panose="020B0609020204030204" pitchFamily="34" charset="-122"/>
                <a:cs typeface="Times New Roman" panose="02020603050405020304" pitchFamily="18" charset="0"/>
              </a:rPr>
              <a:t>THEN   </a:t>
            </a: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anose="020B0609020204030204" pitchFamily="34" charset="-122"/>
                <a:cs typeface="Times New Roman" panose="02020603050405020304" pitchFamily="18" charset="0"/>
              </a:rPr>
              <a:t>Vehicle is Eligible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010" y="447506"/>
            <a:ext cx="11961990" cy="63522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1" name="TextBox 60"/>
          <p:cNvSpPr txBox="1"/>
          <p:nvPr/>
        </p:nvSpPr>
        <p:spPr>
          <a:xfrm>
            <a:off x="3048000" y="64304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 WINDOW</a:t>
            </a:r>
            <a:endParaRPr lang="en-IN" dirty="0"/>
          </a:p>
        </p:txBody>
      </p:sp>
      <p:sp>
        <p:nvSpPr>
          <p:cNvPr id="62" name="TextBox 61"/>
          <p:cNvSpPr txBox="1"/>
          <p:nvPr/>
        </p:nvSpPr>
        <p:spPr>
          <a:xfrm>
            <a:off x="4480560" y="81746"/>
            <a:ext cx="48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WINDOW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3375" y="669727"/>
            <a:ext cx="3924640" cy="60203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630164"/>
            <a:ext cx="11531600" cy="61056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4419600" y="2608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WINDOW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46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Analytics &amp; Decision Intelligence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52" name="Image 1" descr="/home/claude/proj/assets/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54" name="Text 3"/>
          <p:cNvSpPr/>
          <p:nvPr/>
        </p:nvSpPr>
        <p:spPr>
          <a:xfrm>
            <a:off x="548640" y="141732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OBJECTIVE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48640" y="1664208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Transform logistics data into actionable insights, predictions, and intelligent recommendations.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"/>
          <p:cNvSpPr/>
          <p:nvPr/>
        </p:nvSpPr>
        <p:spPr>
          <a:xfrm>
            <a:off x="548640" y="251460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FUNCTIONS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278892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Carbon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performance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Shipment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Predictive analytics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assistant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Performance monitoring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4" name="Text 8"/>
          <p:cNvSpPr/>
          <p:nvPr/>
        </p:nvSpPr>
        <p:spPr>
          <a:xfrm>
            <a:off x="6492240" y="1581912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LOGISTICS ANALYTICS DASHBOARD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6492240" y="1920240"/>
            <a:ext cx="115443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68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4863" y="2011680"/>
            <a:ext cx="329184" cy="329184"/>
          </a:xfrm>
          <a:prstGeom prst="rect">
            <a:avLst/>
          </a:prstGeom>
        </p:spPr>
      </p:pic>
      <p:pic>
        <p:nvPicPr>
          <p:cNvPr id="70" name="Image 3" descr="/home/claude/proj/asset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929" y="2085746"/>
            <a:ext cx="181051" cy="181051"/>
          </a:xfrm>
          <a:prstGeom prst="rect">
            <a:avLst/>
          </a:prstGeom>
        </p:spPr>
      </p:pic>
      <p:sp>
        <p:nvSpPr>
          <p:cNvPr id="72" name="Text 10"/>
          <p:cNvSpPr/>
          <p:nvPr/>
        </p:nvSpPr>
        <p:spPr>
          <a:xfrm>
            <a:off x="6492240" y="2377440"/>
            <a:ext cx="11544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18%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537960" y="2670048"/>
            <a:ext cx="106299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Reduction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7738110" y="1920240"/>
            <a:ext cx="115443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78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0733" y="2011680"/>
            <a:ext cx="329184" cy="329184"/>
          </a:xfrm>
          <a:prstGeom prst="rect">
            <a:avLst/>
          </a:prstGeom>
        </p:spPr>
      </p:pic>
      <p:pic>
        <p:nvPicPr>
          <p:cNvPr id="80" name="Image 5" descr="/home/claude/proj/asset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799" y="2085746"/>
            <a:ext cx="181051" cy="181051"/>
          </a:xfrm>
          <a:prstGeom prst="rect">
            <a:avLst/>
          </a:prstGeom>
        </p:spPr>
      </p:pic>
      <p:sp>
        <p:nvSpPr>
          <p:cNvPr id="82" name="Text 13"/>
          <p:cNvSpPr/>
          <p:nvPr/>
        </p:nvSpPr>
        <p:spPr>
          <a:xfrm>
            <a:off x="7738110" y="2377440"/>
            <a:ext cx="11544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96%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7783830" y="2670048"/>
            <a:ext cx="106299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Success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8983980" y="1920240"/>
            <a:ext cx="115443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88" name="Image 6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6603" y="2011680"/>
            <a:ext cx="329184" cy="329184"/>
          </a:xfrm>
          <a:prstGeom prst="rect">
            <a:avLst/>
          </a:prstGeom>
        </p:spPr>
      </p:pic>
      <p:pic>
        <p:nvPicPr>
          <p:cNvPr id="90" name="Image 7" descr="/home/claude/proj/assets/tru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669" y="2085746"/>
            <a:ext cx="181051" cy="181051"/>
          </a:xfrm>
          <a:prstGeom prst="rect">
            <a:avLst/>
          </a:prstGeom>
        </p:spPr>
      </p:pic>
      <p:sp>
        <p:nvSpPr>
          <p:cNvPr id="92" name="Text 16"/>
          <p:cNvSpPr/>
          <p:nvPr/>
        </p:nvSpPr>
        <p:spPr>
          <a:xfrm>
            <a:off x="8983980" y="2377440"/>
            <a:ext cx="11544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87%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9029700" y="2670048"/>
            <a:ext cx="106299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Utilization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10229850" y="1920240"/>
            <a:ext cx="115443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8" name="Image 8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2473" y="2011680"/>
            <a:ext cx="329184" cy="329184"/>
          </a:xfrm>
          <a:prstGeom prst="rect">
            <a:avLst/>
          </a:prstGeom>
        </p:spPr>
      </p:pic>
      <p:pic>
        <p:nvPicPr>
          <p:cNvPr id="100" name="Image 9" descr="/home/claude/proj/asset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6539" y="2085746"/>
            <a:ext cx="181051" cy="181051"/>
          </a:xfrm>
          <a:prstGeom prst="rect">
            <a:avLst/>
          </a:prstGeom>
        </p:spPr>
      </p:pic>
      <p:sp>
        <p:nvSpPr>
          <p:cNvPr id="102" name="Text 19"/>
          <p:cNvSpPr/>
          <p:nvPr/>
        </p:nvSpPr>
        <p:spPr>
          <a:xfrm>
            <a:off x="10229850" y="2377440"/>
            <a:ext cx="11544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22%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10275570" y="2670048"/>
            <a:ext cx="106299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Carbon Reduction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Shape 21"/>
          <p:cNvSpPr/>
          <p:nvPr/>
        </p:nvSpPr>
        <p:spPr>
          <a:xfrm>
            <a:off x="6492240" y="3108960"/>
            <a:ext cx="23545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8" name="Text 22"/>
          <p:cNvSpPr/>
          <p:nvPr/>
        </p:nvSpPr>
        <p:spPr>
          <a:xfrm>
            <a:off x="6629400" y="3200400"/>
            <a:ext cx="20802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TREND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6675120" y="3909060"/>
            <a:ext cx="276606" cy="388620"/>
          </a:xfrm>
          <a:prstGeom prst="roundRect">
            <a:avLst>
              <a:gd name="adj" fmla="val 9917"/>
            </a:avLst>
          </a:prstGeom>
          <a:solidFill>
            <a:srgbClr val="EDE9FE"/>
          </a:solidFill>
        </p:spPr>
      </p:sp>
      <p:sp>
        <p:nvSpPr>
          <p:cNvPr id="112" name="Shape 24"/>
          <p:cNvSpPr/>
          <p:nvPr/>
        </p:nvSpPr>
        <p:spPr>
          <a:xfrm>
            <a:off x="7006590" y="3753612"/>
            <a:ext cx="276606" cy="544068"/>
          </a:xfrm>
          <a:prstGeom prst="roundRect">
            <a:avLst>
              <a:gd name="adj" fmla="val 9917"/>
            </a:avLst>
          </a:prstGeom>
          <a:solidFill>
            <a:srgbClr val="EDE9FE"/>
          </a:solidFill>
        </p:spPr>
      </p:sp>
      <p:sp>
        <p:nvSpPr>
          <p:cNvPr id="114" name="Shape 25"/>
          <p:cNvSpPr/>
          <p:nvPr/>
        </p:nvSpPr>
        <p:spPr>
          <a:xfrm>
            <a:off x="7338060" y="3947922"/>
            <a:ext cx="276606" cy="349758"/>
          </a:xfrm>
          <a:prstGeom prst="roundRect">
            <a:avLst>
              <a:gd name="adj" fmla="val 9917"/>
            </a:avLst>
          </a:prstGeom>
          <a:solidFill>
            <a:srgbClr val="EDE9FE"/>
          </a:solidFill>
        </p:spPr>
      </p:sp>
      <p:sp>
        <p:nvSpPr>
          <p:cNvPr id="116" name="Shape 26"/>
          <p:cNvSpPr/>
          <p:nvPr/>
        </p:nvSpPr>
        <p:spPr>
          <a:xfrm>
            <a:off x="7669530" y="3637026"/>
            <a:ext cx="276606" cy="660654"/>
          </a:xfrm>
          <a:prstGeom prst="roundRect">
            <a:avLst>
              <a:gd name="adj" fmla="val 9917"/>
            </a:avLst>
          </a:prstGeom>
          <a:solidFill>
            <a:srgbClr val="EDE9FE"/>
          </a:solidFill>
        </p:spPr>
      </p:sp>
      <p:sp>
        <p:nvSpPr>
          <p:cNvPr id="118" name="Shape 27"/>
          <p:cNvSpPr/>
          <p:nvPr/>
        </p:nvSpPr>
        <p:spPr>
          <a:xfrm>
            <a:off x="8001000" y="3831336"/>
            <a:ext cx="276606" cy="466344"/>
          </a:xfrm>
          <a:prstGeom prst="roundRect">
            <a:avLst>
              <a:gd name="adj" fmla="val 9917"/>
            </a:avLst>
          </a:prstGeom>
          <a:solidFill>
            <a:srgbClr val="EDE9FE"/>
          </a:solidFill>
        </p:spPr>
      </p:sp>
      <p:sp>
        <p:nvSpPr>
          <p:cNvPr id="120" name="Shape 28"/>
          <p:cNvSpPr/>
          <p:nvPr/>
        </p:nvSpPr>
        <p:spPr>
          <a:xfrm>
            <a:off x="8332470" y="4025646"/>
            <a:ext cx="276606" cy="272034"/>
          </a:xfrm>
          <a:prstGeom prst="roundRect">
            <a:avLst>
              <a:gd name="adj" fmla="val 10084"/>
            </a:avLst>
          </a:prstGeom>
          <a:solidFill>
            <a:srgbClr val="4F20D8"/>
          </a:solidFill>
        </p:spPr>
      </p:sp>
      <p:sp>
        <p:nvSpPr>
          <p:cNvPr id="122" name="Shape 29"/>
          <p:cNvSpPr/>
          <p:nvPr/>
        </p:nvSpPr>
        <p:spPr>
          <a:xfrm>
            <a:off x="9029700" y="3108960"/>
            <a:ext cx="23545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4" name="Text 30"/>
          <p:cNvSpPr/>
          <p:nvPr/>
        </p:nvSpPr>
        <p:spPr>
          <a:xfrm>
            <a:off x="9166860" y="3200400"/>
            <a:ext cx="20802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CARBON EMISSIONS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Shape 31"/>
          <p:cNvSpPr/>
          <p:nvPr/>
        </p:nvSpPr>
        <p:spPr>
          <a:xfrm>
            <a:off x="9212580" y="3753612"/>
            <a:ext cx="397764" cy="7772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28" name="Shape 32"/>
          <p:cNvSpPr/>
          <p:nvPr/>
        </p:nvSpPr>
        <p:spPr>
          <a:xfrm flipV="1">
            <a:off x="9610344" y="3792474"/>
            <a:ext cx="397764" cy="38862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30" name="Shape 33"/>
          <p:cNvSpPr/>
          <p:nvPr/>
        </p:nvSpPr>
        <p:spPr>
          <a:xfrm>
            <a:off x="10008108" y="3792474"/>
            <a:ext cx="397764" cy="116586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32" name="Shape 34"/>
          <p:cNvSpPr/>
          <p:nvPr/>
        </p:nvSpPr>
        <p:spPr>
          <a:xfrm>
            <a:off x="10405872" y="3909060"/>
            <a:ext cx="397764" cy="7772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34" name="Shape 35"/>
          <p:cNvSpPr/>
          <p:nvPr/>
        </p:nvSpPr>
        <p:spPr>
          <a:xfrm>
            <a:off x="10803636" y="3986784"/>
            <a:ext cx="397764" cy="7772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136" name="Shape 36"/>
          <p:cNvSpPr/>
          <p:nvPr/>
        </p:nvSpPr>
        <p:spPr>
          <a:xfrm>
            <a:off x="6492240" y="4709160"/>
            <a:ext cx="4892040" cy="777240"/>
          </a:xfrm>
          <a:prstGeom prst="roundRect">
            <a:avLst>
              <a:gd name="adj" fmla="val 14118"/>
            </a:avLst>
          </a:prstGeom>
          <a:solidFill>
            <a:srgbClr val="24135F"/>
          </a:solidFill>
        </p:spPr>
      </p:sp>
      <p:pic>
        <p:nvPicPr>
          <p:cNvPr id="138" name="Image 1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4846320"/>
            <a:ext cx="502920" cy="502920"/>
          </a:xfrm>
          <a:prstGeom prst="rect">
            <a:avLst/>
          </a:prstGeom>
        </p:spPr>
      </p:pic>
      <p:pic>
        <p:nvPicPr>
          <p:cNvPr id="140" name="Image 11" descr="/home/claude/proj/asset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101" y="4967021"/>
            <a:ext cx="261518" cy="261518"/>
          </a:xfrm>
          <a:prstGeom prst="rect">
            <a:avLst/>
          </a:prstGeom>
        </p:spPr>
      </p:pic>
      <p:sp>
        <p:nvSpPr>
          <p:cNvPr id="142" name="Text 37"/>
          <p:cNvSpPr/>
          <p:nvPr/>
        </p:nvSpPr>
        <p:spPr>
          <a:xfrm>
            <a:off x="7223760" y="4828032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kern="0" spc="100" dirty="0">
                <a:solidFill>
                  <a:srgbClr val="C4B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INSIGHT
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 + Road combination reduces cost by 18% on the Chennai–Mumbai corridor.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5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How Module 03 Works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11" name="Image 1" descr="/home/claude/proj/assets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548640" y="146304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658368" y="1673352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7" name="Text 5"/>
          <p:cNvSpPr/>
          <p:nvPr/>
        </p:nvSpPr>
        <p:spPr>
          <a:xfrm>
            <a:off x="658368" y="16733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1042416" y="1463040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Logistics Data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604772" y="2167128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548640" y="2313432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Shape 9"/>
          <p:cNvSpPr/>
          <p:nvPr/>
        </p:nvSpPr>
        <p:spPr>
          <a:xfrm>
            <a:off x="658368" y="2523744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27" name="Text 10"/>
          <p:cNvSpPr/>
          <p:nvPr/>
        </p:nvSpPr>
        <p:spPr>
          <a:xfrm>
            <a:off x="658368" y="25237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1042416" y="2313432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 Collection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1604772" y="3017520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548640" y="3163824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Shape 14"/>
          <p:cNvSpPr/>
          <p:nvPr/>
        </p:nvSpPr>
        <p:spPr>
          <a:xfrm>
            <a:off x="658368" y="3374136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37" name="Text 15"/>
          <p:cNvSpPr/>
          <p:nvPr/>
        </p:nvSpPr>
        <p:spPr>
          <a:xfrm>
            <a:off x="658368" y="33741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1042416" y="3163824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 Processing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1604772" y="3867912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548640" y="4014216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7" name="Shape 19"/>
          <p:cNvSpPr/>
          <p:nvPr/>
        </p:nvSpPr>
        <p:spPr>
          <a:xfrm>
            <a:off x="658368" y="4224528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51" name="Text 20"/>
          <p:cNvSpPr/>
          <p:nvPr/>
        </p:nvSpPr>
        <p:spPr>
          <a:xfrm>
            <a:off x="658368" y="42245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1042416" y="4014216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Pattern Analysis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1604772" y="4718304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548640" y="4864608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4F20D8"/>
          </a:solidFill>
          <a:ln w="12700">
            <a:solidFill>
              <a:srgbClr val="4F20D8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67" name="Shape 24"/>
          <p:cNvSpPr/>
          <p:nvPr/>
        </p:nvSpPr>
        <p:spPr>
          <a:xfrm>
            <a:off x="658368" y="5074920"/>
            <a:ext cx="292608" cy="29260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1" name="Text 25"/>
          <p:cNvSpPr/>
          <p:nvPr/>
        </p:nvSpPr>
        <p:spPr>
          <a:xfrm>
            <a:off x="658368" y="50749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1042416" y="4864608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Model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3044952" y="146304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3" name="Shape 28"/>
          <p:cNvSpPr/>
          <p:nvPr/>
        </p:nvSpPr>
        <p:spPr>
          <a:xfrm>
            <a:off x="3154680" y="1673352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87" name="Text 29"/>
          <p:cNvSpPr/>
          <p:nvPr/>
        </p:nvSpPr>
        <p:spPr>
          <a:xfrm>
            <a:off x="3154680" y="16733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30"/>
          <p:cNvSpPr/>
          <p:nvPr/>
        </p:nvSpPr>
        <p:spPr>
          <a:xfrm>
            <a:off x="3538728" y="1463040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31"/>
          <p:cNvSpPr/>
          <p:nvPr/>
        </p:nvSpPr>
        <p:spPr>
          <a:xfrm>
            <a:off x="4101084" y="2167128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hape 32"/>
          <p:cNvSpPr/>
          <p:nvPr/>
        </p:nvSpPr>
        <p:spPr>
          <a:xfrm>
            <a:off x="3044952" y="2313432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3" name="Shape 33"/>
          <p:cNvSpPr/>
          <p:nvPr/>
        </p:nvSpPr>
        <p:spPr>
          <a:xfrm>
            <a:off x="3154680" y="2523744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07" name="Text 34"/>
          <p:cNvSpPr/>
          <p:nvPr/>
        </p:nvSpPr>
        <p:spPr>
          <a:xfrm>
            <a:off x="3154680" y="25237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35"/>
          <p:cNvSpPr/>
          <p:nvPr/>
        </p:nvSpPr>
        <p:spPr>
          <a:xfrm>
            <a:off x="3538728" y="2313432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 36"/>
          <p:cNvSpPr/>
          <p:nvPr/>
        </p:nvSpPr>
        <p:spPr>
          <a:xfrm>
            <a:off x="4101084" y="3017520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Shape 37"/>
          <p:cNvSpPr/>
          <p:nvPr/>
        </p:nvSpPr>
        <p:spPr>
          <a:xfrm>
            <a:off x="3044952" y="3163824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3" name="Shape 38"/>
          <p:cNvSpPr/>
          <p:nvPr/>
        </p:nvSpPr>
        <p:spPr>
          <a:xfrm>
            <a:off x="3154680" y="3374136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27" name="Text 39"/>
          <p:cNvSpPr/>
          <p:nvPr/>
        </p:nvSpPr>
        <p:spPr>
          <a:xfrm>
            <a:off x="3154680" y="33741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 40"/>
          <p:cNvSpPr/>
          <p:nvPr/>
        </p:nvSpPr>
        <p:spPr>
          <a:xfrm>
            <a:off x="3538728" y="3163824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Decision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 41"/>
          <p:cNvSpPr/>
          <p:nvPr/>
        </p:nvSpPr>
        <p:spPr>
          <a:xfrm>
            <a:off x="4101084" y="3867912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Shape 42"/>
          <p:cNvSpPr/>
          <p:nvPr/>
        </p:nvSpPr>
        <p:spPr>
          <a:xfrm>
            <a:off x="3044952" y="4014216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3" name="Shape 43"/>
          <p:cNvSpPr/>
          <p:nvPr/>
        </p:nvSpPr>
        <p:spPr>
          <a:xfrm>
            <a:off x="3154680" y="4224528"/>
            <a:ext cx="292608" cy="292608"/>
          </a:xfrm>
          <a:prstGeom prst="ellipse">
            <a:avLst/>
          </a:prstGeom>
          <a:solidFill>
            <a:srgbClr val="4F20D8"/>
          </a:solidFill>
        </p:spPr>
      </p:sp>
      <p:sp>
        <p:nvSpPr>
          <p:cNvPr id="147" name="Text 44"/>
          <p:cNvSpPr/>
          <p:nvPr/>
        </p:nvSpPr>
        <p:spPr>
          <a:xfrm>
            <a:off x="3154680" y="42245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 45"/>
          <p:cNvSpPr/>
          <p:nvPr/>
        </p:nvSpPr>
        <p:spPr>
          <a:xfrm>
            <a:off x="3538728" y="4014216"/>
            <a:ext cx="172821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Performance Feedback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 46"/>
          <p:cNvSpPr/>
          <p:nvPr/>
        </p:nvSpPr>
        <p:spPr>
          <a:xfrm>
            <a:off x="4101084" y="4718304"/>
            <a:ext cx="219456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 47"/>
          <p:cNvSpPr/>
          <p:nvPr/>
        </p:nvSpPr>
        <p:spPr>
          <a:xfrm>
            <a:off x="2884932" y="5102352"/>
            <a:ext cx="1554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Shape 48"/>
          <p:cNvSpPr/>
          <p:nvPr/>
        </p:nvSpPr>
        <p:spPr>
          <a:xfrm>
            <a:off x="5678424" y="1463040"/>
            <a:ext cx="5964631" cy="2331720"/>
          </a:xfrm>
          <a:prstGeom prst="roundRect">
            <a:avLst>
              <a:gd name="adj" fmla="val 4706"/>
            </a:avLst>
          </a:prstGeom>
          <a:solidFill>
            <a:srgbClr val="EDE9FE"/>
          </a:solidFill>
        </p:spPr>
      </p:sp>
      <p:sp>
        <p:nvSpPr>
          <p:cNvPr id="157" name="Text 49"/>
          <p:cNvSpPr/>
          <p:nvPr/>
        </p:nvSpPr>
        <p:spPr>
          <a:xfrm>
            <a:off x="5952744" y="1645920"/>
            <a:ext cx="5415991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 SOURCES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 50"/>
          <p:cNvSpPr/>
          <p:nvPr/>
        </p:nvSpPr>
        <p:spPr>
          <a:xfrm>
            <a:off x="5952744" y="1965960"/>
            <a:ext cx="5415991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Shipment History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Route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Cost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Delivery Time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Vehicle Utilization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Carbon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Shape 51"/>
          <p:cNvSpPr/>
          <p:nvPr/>
        </p:nvSpPr>
        <p:spPr>
          <a:xfrm>
            <a:off x="5678424" y="4023360"/>
            <a:ext cx="5964631" cy="1828800"/>
          </a:xfrm>
          <a:prstGeom prst="roundRect">
            <a:avLst>
              <a:gd name="adj" fmla="val 6000"/>
            </a:avLst>
          </a:prstGeom>
          <a:solidFill>
            <a:srgbClr val="24135F"/>
          </a:solidFill>
        </p:spPr>
      </p:sp>
      <p:sp>
        <p:nvSpPr>
          <p:cNvPr id="163" name="Text 52"/>
          <p:cNvSpPr/>
          <p:nvPr/>
        </p:nvSpPr>
        <p:spPr>
          <a:xfrm>
            <a:off x="5952744" y="4206240"/>
            <a:ext cx="5415991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4B5FD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TRANSFORMS INTO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 53"/>
          <p:cNvSpPr/>
          <p:nvPr/>
        </p:nvSpPr>
        <p:spPr>
          <a:xfrm>
            <a:off x="5952744" y="4526280"/>
            <a:ext cx="5415991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Charts &amp; Dashboards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7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Decisions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 5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8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Algorithms &amp; AI Techniques in Module 03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20" name="Image 1" descr="/home/claude/proj/assets/microchi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24" name="Shape 3"/>
          <p:cNvSpPr/>
          <p:nvPr/>
        </p:nvSpPr>
        <p:spPr>
          <a:xfrm>
            <a:off x="548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28" name="Shape 4"/>
          <p:cNvSpPr/>
          <p:nvPr/>
        </p:nvSpPr>
        <p:spPr>
          <a:xfrm>
            <a:off x="548640" y="1554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4F20D8"/>
          </a:solidFill>
        </p:spPr>
      </p:sp>
      <p:sp>
        <p:nvSpPr>
          <p:cNvPr id="32" name="Shape 5"/>
          <p:cNvSpPr/>
          <p:nvPr/>
        </p:nvSpPr>
        <p:spPr>
          <a:xfrm>
            <a:off x="548640" y="2057400"/>
            <a:ext cx="5349240" cy="502920"/>
          </a:xfrm>
          <a:prstGeom prst="rect">
            <a:avLst/>
          </a:prstGeom>
          <a:solidFill>
            <a:srgbClr val="4F20D8"/>
          </a:solidFill>
        </p:spPr>
      </p:sp>
      <p:pic>
        <p:nvPicPr>
          <p:cNvPr id="36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640080" cy="640080"/>
          </a:xfrm>
          <a:prstGeom prst="rect">
            <a:avLst/>
          </a:prstGeom>
        </p:spPr>
      </p:pic>
      <p:pic>
        <p:nvPicPr>
          <p:cNvPr id="40" name="Image 3" descr="/home/claude/proj/asset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44" name="Text 6"/>
          <p:cNvSpPr/>
          <p:nvPr/>
        </p:nvSpPr>
        <p:spPr>
          <a:xfrm>
            <a:off x="1554480" y="1755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8CC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 01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7"/>
          <p:cNvSpPr/>
          <p:nvPr/>
        </p:nvSpPr>
        <p:spPr>
          <a:xfrm>
            <a:off x="1554480" y="202996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Reinforcement Learning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8"/>
          <p:cNvSpPr/>
          <p:nvPr/>
        </p:nvSpPr>
        <p:spPr>
          <a:xfrm>
            <a:off x="822960" y="27889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PURPOSE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9"/>
          <p:cNvSpPr/>
          <p:nvPr/>
        </p:nvSpPr>
        <p:spPr>
          <a:xfrm>
            <a:off x="822960" y="3035808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Continuously improve logistics decisions using feedback.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22960" y="365760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FLOW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822960" y="3931920"/>
            <a:ext cx="4800600" cy="329184"/>
          </a:xfrm>
          <a:prstGeom prst="roundRect">
            <a:avLst>
              <a:gd name="adj" fmla="val 3333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0" name="Text 12"/>
          <p:cNvSpPr/>
          <p:nvPr/>
        </p:nvSpPr>
        <p:spPr>
          <a:xfrm>
            <a:off x="822960" y="393192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Agent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822960" y="4297680"/>
            <a:ext cx="4800600" cy="329184"/>
          </a:xfrm>
          <a:prstGeom prst="roundRect">
            <a:avLst>
              <a:gd name="adj" fmla="val 3333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5" name="Text 14"/>
          <p:cNvSpPr/>
          <p:nvPr/>
        </p:nvSpPr>
        <p:spPr>
          <a:xfrm>
            <a:off x="822960" y="429768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822960" y="4663440"/>
            <a:ext cx="4800600" cy="329184"/>
          </a:xfrm>
          <a:prstGeom prst="roundRect">
            <a:avLst>
              <a:gd name="adj" fmla="val 3333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0" name="Text 16"/>
          <p:cNvSpPr/>
          <p:nvPr/>
        </p:nvSpPr>
        <p:spPr>
          <a:xfrm>
            <a:off x="822960" y="466344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Environment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822960" y="5029200"/>
            <a:ext cx="4800600" cy="329184"/>
          </a:xfrm>
          <a:prstGeom prst="roundRect">
            <a:avLst>
              <a:gd name="adj" fmla="val 3333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6" name="Text 18"/>
          <p:cNvSpPr/>
          <p:nvPr/>
        </p:nvSpPr>
        <p:spPr>
          <a:xfrm>
            <a:off x="822960" y="502920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Reward / Penalty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822960" y="5394960"/>
            <a:ext cx="4800600" cy="329184"/>
          </a:xfrm>
          <a:prstGeom prst="roundRect">
            <a:avLst>
              <a:gd name="adj" fmla="val 3333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1" name="Text 20"/>
          <p:cNvSpPr/>
          <p:nvPr/>
        </p:nvSpPr>
        <p:spPr>
          <a:xfrm>
            <a:off x="822960" y="539496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Learning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822960" y="5760720"/>
            <a:ext cx="4800600" cy="329184"/>
          </a:xfrm>
          <a:prstGeom prst="roundRect">
            <a:avLst>
              <a:gd name="adj" fmla="val 33333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6" name="Text 22"/>
          <p:cNvSpPr/>
          <p:nvPr/>
        </p:nvSpPr>
        <p:spPr>
          <a:xfrm>
            <a:off x="822960" y="5760720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Improved Action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6263640" y="155448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38100" dir="5400000" algn="bl" rotWithShape="0">
              <a:srgbClr val="4F20D8">
                <a:alpha val="16000"/>
              </a:srgbClr>
            </a:outerShdw>
          </a:effectLst>
        </p:spPr>
      </p:sp>
      <p:sp>
        <p:nvSpPr>
          <p:cNvPr id="92" name="Shape 24"/>
          <p:cNvSpPr/>
          <p:nvPr/>
        </p:nvSpPr>
        <p:spPr>
          <a:xfrm>
            <a:off x="6263640" y="1554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6D28D9"/>
          </a:solidFill>
        </p:spPr>
      </p:sp>
      <p:sp>
        <p:nvSpPr>
          <p:cNvPr id="94" name="Shape 25"/>
          <p:cNvSpPr/>
          <p:nvPr/>
        </p:nvSpPr>
        <p:spPr>
          <a:xfrm>
            <a:off x="6263640" y="2057400"/>
            <a:ext cx="5349240" cy="502920"/>
          </a:xfrm>
          <a:prstGeom prst="rect">
            <a:avLst/>
          </a:prstGeom>
          <a:solidFill>
            <a:srgbClr val="6D28D9"/>
          </a:solidFill>
        </p:spPr>
      </p:sp>
      <p:pic>
        <p:nvPicPr>
          <p:cNvPr id="97" name="Image 4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640080" cy="640080"/>
          </a:xfrm>
          <a:prstGeom prst="rect">
            <a:avLst/>
          </a:prstGeom>
        </p:spPr>
      </p:pic>
      <p:pic>
        <p:nvPicPr>
          <p:cNvPr id="100" name="Image 5" descr="/home/claude/proj/asset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1890979"/>
            <a:ext cx="332842" cy="332842"/>
          </a:xfrm>
          <a:prstGeom prst="rect">
            <a:avLst/>
          </a:prstGeom>
        </p:spPr>
      </p:pic>
      <p:sp>
        <p:nvSpPr>
          <p:cNvPr id="102" name="Text 26"/>
          <p:cNvSpPr/>
          <p:nvPr/>
        </p:nvSpPr>
        <p:spPr>
          <a:xfrm>
            <a:off x="7269480" y="1755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DE4F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ALGORITHM 02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7269480" y="202996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Predictive Analytics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28"/>
          <p:cNvSpPr/>
          <p:nvPr/>
        </p:nvSpPr>
        <p:spPr>
          <a:xfrm>
            <a:off x="6537960" y="278892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PURPOSE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29"/>
          <p:cNvSpPr/>
          <p:nvPr/>
        </p:nvSpPr>
        <p:spPr>
          <a:xfrm>
            <a:off x="6537960" y="3035808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Identify patterns and forecast future logistics requirements.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 30"/>
          <p:cNvSpPr/>
          <p:nvPr/>
        </p:nvSpPr>
        <p:spPr>
          <a:xfrm>
            <a:off x="6537960" y="365760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FLOW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Shape 31"/>
          <p:cNvSpPr/>
          <p:nvPr/>
        </p:nvSpPr>
        <p:spPr>
          <a:xfrm>
            <a:off x="6537960" y="3931920"/>
            <a:ext cx="4800600" cy="338328"/>
          </a:xfrm>
          <a:prstGeom prst="roundRect">
            <a:avLst>
              <a:gd name="adj" fmla="val 32432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8" name="Text 32"/>
          <p:cNvSpPr/>
          <p:nvPr/>
        </p:nvSpPr>
        <p:spPr>
          <a:xfrm>
            <a:off x="6537960" y="3931920"/>
            <a:ext cx="48006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Historical Data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hape 33"/>
          <p:cNvSpPr/>
          <p:nvPr/>
        </p:nvSpPr>
        <p:spPr>
          <a:xfrm>
            <a:off x="6537960" y="4343400"/>
            <a:ext cx="4800600" cy="338328"/>
          </a:xfrm>
          <a:prstGeom prst="roundRect">
            <a:avLst>
              <a:gd name="adj" fmla="val 32432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4" name="Text 34"/>
          <p:cNvSpPr/>
          <p:nvPr/>
        </p:nvSpPr>
        <p:spPr>
          <a:xfrm>
            <a:off x="6537960" y="4343400"/>
            <a:ext cx="48006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Pattern Detection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Shape 35"/>
          <p:cNvSpPr/>
          <p:nvPr/>
        </p:nvSpPr>
        <p:spPr>
          <a:xfrm>
            <a:off x="6537960" y="4754880"/>
            <a:ext cx="4800600" cy="338328"/>
          </a:xfrm>
          <a:prstGeom prst="roundRect">
            <a:avLst>
              <a:gd name="adj" fmla="val 32432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9" name="Text 36"/>
          <p:cNvSpPr/>
          <p:nvPr/>
        </p:nvSpPr>
        <p:spPr>
          <a:xfrm>
            <a:off x="6537960" y="4754880"/>
            <a:ext cx="48006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Trend Analysis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Shape 37"/>
          <p:cNvSpPr/>
          <p:nvPr/>
        </p:nvSpPr>
        <p:spPr>
          <a:xfrm>
            <a:off x="6537960" y="5166360"/>
            <a:ext cx="4800600" cy="338328"/>
          </a:xfrm>
          <a:prstGeom prst="roundRect">
            <a:avLst>
              <a:gd name="adj" fmla="val 32432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4" name="Text 38"/>
          <p:cNvSpPr/>
          <p:nvPr/>
        </p:nvSpPr>
        <p:spPr>
          <a:xfrm>
            <a:off x="6537960" y="5166360"/>
            <a:ext cx="48006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135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Shape 39"/>
          <p:cNvSpPr/>
          <p:nvPr/>
        </p:nvSpPr>
        <p:spPr>
          <a:xfrm>
            <a:off x="6537960" y="5577840"/>
            <a:ext cx="4800600" cy="338328"/>
          </a:xfrm>
          <a:prstGeom prst="roundRect">
            <a:avLst>
              <a:gd name="adj" fmla="val 32432"/>
            </a:avLst>
          </a:prstGeom>
          <a:solidFill>
            <a:srgbClr val="6D28D9"/>
          </a:solidFill>
        </p:spPr>
      </p:sp>
      <p:sp>
        <p:nvSpPr>
          <p:cNvPr id="140" name="Text 40"/>
          <p:cNvSpPr/>
          <p:nvPr/>
        </p:nvSpPr>
        <p:spPr>
          <a:xfrm>
            <a:off x="6537960" y="5577840"/>
            <a:ext cx="48006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29260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EDE9FE"/>
          </a:solidFill>
        </p:spPr>
      </p:sp>
      <p:sp>
        <p:nvSpPr>
          <p:cNvPr id="6" name="Text 1"/>
          <p:cNvSpPr/>
          <p:nvPr/>
        </p:nvSpPr>
        <p:spPr>
          <a:xfrm>
            <a:off x="548640" y="292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548640" y="658368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Module 03 — AI Decision Intelligence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0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65760"/>
            <a:ext cx="658368" cy="658368"/>
          </a:xfrm>
          <a:prstGeom prst="rect">
            <a:avLst/>
          </a:prstGeom>
        </p:spPr>
      </p:pic>
      <p:pic>
        <p:nvPicPr>
          <p:cNvPr id="14" name="Image 1" descr="/home/claude/proj/assets/robo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28" y="523768"/>
            <a:ext cx="342351" cy="34235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548640" y="146304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4"/>
          <p:cNvSpPr/>
          <p:nvPr/>
        </p:nvSpPr>
        <p:spPr>
          <a:xfrm>
            <a:off x="731520" y="1572768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REINFORCEMENT LEARNING LOOP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2308860" y="2167677"/>
            <a:ext cx="728542" cy="344912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</a:ln>
        </p:spPr>
      </p:sp>
      <p:sp>
        <p:nvSpPr>
          <p:cNvPr id="25" name="Shape 6"/>
          <p:cNvSpPr/>
          <p:nvPr/>
        </p:nvSpPr>
        <p:spPr>
          <a:xfrm>
            <a:off x="3037402" y="2512588"/>
            <a:ext cx="9144" cy="689823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</a:ln>
        </p:spPr>
      </p:sp>
      <p:sp>
        <p:nvSpPr>
          <p:cNvPr id="27" name="Shape 7"/>
          <p:cNvSpPr/>
          <p:nvPr/>
        </p:nvSpPr>
        <p:spPr>
          <a:xfrm flipH="1">
            <a:off x="2308860" y="3202412"/>
            <a:ext cx="728542" cy="344912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</a:ln>
        </p:spPr>
      </p:sp>
      <p:sp>
        <p:nvSpPr>
          <p:cNvPr id="30" name="Shape 8"/>
          <p:cNvSpPr/>
          <p:nvPr/>
        </p:nvSpPr>
        <p:spPr>
          <a:xfrm flipH="1" flipV="1">
            <a:off x="1580318" y="3202412"/>
            <a:ext cx="728542" cy="344912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</a:ln>
        </p:spPr>
      </p:sp>
      <p:sp>
        <p:nvSpPr>
          <p:cNvPr id="33" name="Shape 9"/>
          <p:cNvSpPr/>
          <p:nvPr/>
        </p:nvSpPr>
        <p:spPr>
          <a:xfrm flipV="1">
            <a:off x="1580318" y="2512588"/>
            <a:ext cx="0" cy="689823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</a:ln>
        </p:spPr>
      </p:sp>
      <p:sp>
        <p:nvSpPr>
          <p:cNvPr id="35" name="Shape 10"/>
          <p:cNvSpPr/>
          <p:nvPr/>
        </p:nvSpPr>
        <p:spPr>
          <a:xfrm flipV="1">
            <a:off x="1580318" y="2167677"/>
            <a:ext cx="728542" cy="344912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</a:ln>
        </p:spPr>
      </p:sp>
      <p:sp>
        <p:nvSpPr>
          <p:cNvPr id="38" name="Shape 11"/>
          <p:cNvSpPr/>
          <p:nvPr/>
        </p:nvSpPr>
        <p:spPr>
          <a:xfrm>
            <a:off x="1979676" y="1838493"/>
            <a:ext cx="658368" cy="658368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</p:spPr>
      </p:sp>
      <p:sp>
        <p:nvSpPr>
          <p:cNvPr id="41" name="Text 12"/>
          <p:cNvSpPr/>
          <p:nvPr/>
        </p:nvSpPr>
        <p:spPr>
          <a:xfrm>
            <a:off x="1979676" y="1838493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State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2708218" y="2183404"/>
            <a:ext cx="658368" cy="658368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</p:spPr>
      </p:sp>
      <p:sp>
        <p:nvSpPr>
          <p:cNvPr id="47" name="Text 14"/>
          <p:cNvSpPr/>
          <p:nvPr/>
        </p:nvSpPr>
        <p:spPr>
          <a:xfrm>
            <a:off x="2708218" y="218340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Action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2708218" y="2873228"/>
            <a:ext cx="658368" cy="658368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</p:spPr>
      </p:sp>
      <p:sp>
        <p:nvSpPr>
          <p:cNvPr id="53" name="Text 16"/>
          <p:cNvSpPr/>
          <p:nvPr/>
        </p:nvSpPr>
        <p:spPr>
          <a:xfrm>
            <a:off x="2708218" y="28732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Environment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1979676" y="3218139"/>
            <a:ext cx="658368" cy="658368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</p:spPr>
      </p:sp>
      <p:sp>
        <p:nvSpPr>
          <p:cNvPr id="59" name="Text 18"/>
          <p:cNvSpPr/>
          <p:nvPr/>
        </p:nvSpPr>
        <p:spPr>
          <a:xfrm>
            <a:off x="1979676" y="3218139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Result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1251134" y="2873228"/>
            <a:ext cx="658368" cy="658368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</p:spPr>
      </p:sp>
      <p:sp>
        <p:nvSpPr>
          <p:cNvPr id="66" name="Text 20"/>
          <p:cNvSpPr/>
          <p:nvPr/>
        </p:nvSpPr>
        <p:spPr>
          <a:xfrm>
            <a:off x="1251134" y="28732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Reward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1251134" y="2183404"/>
            <a:ext cx="658368" cy="658368"/>
          </a:xfrm>
          <a:prstGeom prst="ellipse">
            <a:avLst/>
          </a:prstGeom>
          <a:solidFill>
            <a:srgbClr val="4F20D8"/>
          </a:solidFill>
          <a:ln w="22225">
            <a:solidFill>
              <a:srgbClr val="4F20D8"/>
            </a:solidFill>
            <a:prstDash val="solid"/>
          </a:ln>
        </p:spPr>
      </p:sp>
      <p:sp>
        <p:nvSpPr>
          <p:cNvPr id="72" name="Text 22"/>
          <p:cNvSpPr/>
          <p:nvPr/>
        </p:nvSpPr>
        <p:spPr>
          <a:xfrm>
            <a:off x="1251134" y="218340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Update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4343400" y="1463040"/>
            <a:ext cx="7299655" cy="2514600"/>
          </a:xfrm>
          <a:prstGeom prst="roundRect">
            <a:avLst>
              <a:gd name="adj" fmla="val 4364"/>
            </a:avLst>
          </a:prstGeom>
          <a:solidFill>
            <a:srgbClr val="F7F5FC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9" name="Text 24"/>
          <p:cNvSpPr/>
          <p:nvPr/>
        </p:nvSpPr>
        <p:spPr>
          <a:xfrm>
            <a:off x="4572000" y="1600200"/>
            <a:ext cx="684245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PREDICTIVE ANALYTICS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4572000" y="2286000"/>
            <a:ext cx="15391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5" name="Text 26"/>
          <p:cNvSpPr/>
          <p:nvPr/>
        </p:nvSpPr>
        <p:spPr>
          <a:xfrm>
            <a:off x="4572000" y="2286000"/>
            <a:ext cx="1539164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Historical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27"/>
          <p:cNvSpPr/>
          <p:nvPr/>
        </p:nvSpPr>
        <p:spPr>
          <a:xfrm>
            <a:off x="6111164" y="276606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28"/>
          <p:cNvSpPr/>
          <p:nvPr/>
        </p:nvSpPr>
        <p:spPr>
          <a:xfrm>
            <a:off x="6339764" y="2286000"/>
            <a:ext cx="15391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5" name="Text 29"/>
          <p:cNvSpPr/>
          <p:nvPr/>
        </p:nvSpPr>
        <p:spPr>
          <a:xfrm>
            <a:off x="6339764" y="2286000"/>
            <a:ext cx="1539164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Pattern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Analysis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7878928" y="276606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31"/>
          <p:cNvSpPr/>
          <p:nvPr/>
        </p:nvSpPr>
        <p:spPr>
          <a:xfrm>
            <a:off x="8107528" y="2286000"/>
            <a:ext cx="15391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4" name="Text 32"/>
          <p:cNvSpPr/>
          <p:nvPr/>
        </p:nvSpPr>
        <p:spPr>
          <a:xfrm>
            <a:off x="8107528" y="2286000"/>
            <a:ext cx="1539164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7255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Forecast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33"/>
          <p:cNvSpPr/>
          <p:nvPr/>
        </p:nvSpPr>
        <p:spPr>
          <a:xfrm>
            <a:off x="9646691" y="276606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Shape 34"/>
          <p:cNvSpPr/>
          <p:nvPr/>
        </p:nvSpPr>
        <p:spPr>
          <a:xfrm>
            <a:off x="9875291" y="2286000"/>
            <a:ext cx="1539164" cy="1234440"/>
          </a:xfrm>
          <a:prstGeom prst="roundRect">
            <a:avLst>
              <a:gd name="adj" fmla="val 8889"/>
            </a:avLst>
          </a:prstGeom>
          <a:solidFill>
            <a:srgbClr val="6D28D9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4" name="Text 35"/>
          <p:cNvSpPr/>
          <p:nvPr/>
        </p:nvSpPr>
        <p:spPr>
          <a:xfrm>
            <a:off x="9875291" y="2286000"/>
            <a:ext cx="1539164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Shape 36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24135F"/>
          </a:solidFill>
        </p:spPr>
      </p:sp>
      <p:pic>
        <p:nvPicPr>
          <p:cNvPr id="120" name="Image 2" descr="/home/claude/proj/assets/circl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80560"/>
            <a:ext cx="457200" cy="457200"/>
          </a:xfrm>
          <a:prstGeom prst="rect">
            <a:avLst/>
          </a:prstGeom>
        </p:spPr>
      </p:pic>
      <p:pic>
        <p:nvPicPr>
          <p:cNvPr id="123" name="Image 3" descr="/home/claude/proj/asset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590288"/>
            <a:ext cx="237744" cy="237744"/>
          </a:xfrm>
          <a:prstGeom prst="rect">
            <a:avLst/>
          </a:prstGeom>
        </p:spPr>
      </p:pic>
      <p:sp>
        <p:nvSpPr>
          <p:cNvPr id="127" name="Text 37"/>
          <p:cNvSpPr/>
          <p:nvPr/>
        </p:nvSpPr>
        <p:spPr>
          <a:xfrm>
            <a:off x="1417320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4B5FD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AI LOGISTICS ASSISTANT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Shape 38"/>
          <p:cNvSpPr/>
          <p:nvPr/>
        </p:nvSpPr>
        <p:spPr>
          <a:xfrm>
            <a:off x="822960" y="493776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3A1E85"/>
          </a:solidFill>
        </p:spPr>
      </p:sp>
      <p:sp>
        <p:nvSpPr>
          <p:cNvPr id="133" name="Text 39"/>
          <p:cNvSpPr/>
          <p:nvPr/>
        </p:nvSpPr>
        <p:spPr>
          <a:xfrm>
            <a:off x="1005840" y="49377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9E3F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USER: Find the best route from Chennai to Mumbai.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Shape 40"/>
          <p:cNvSpPr/>
          <p:nvPr/>
        </p:nvSpPr>
        <p:spPr>
          <a:xfrm>
            <a:off x="5989320" y="45262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</p:spPr>
      </p:sp>
      <p:sp>
        <p:nvSpPr>
          <p:cNvPr id="139" name="Text 41"/>
          <p:cNvSpPr/>
          <p:nvPr/>
        </p:nvSpPr>
        <p:spPr>
          <a:xfrm>
            <a:off x="6172200" y="4663440"/>
            <a:ext cx="1257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Rail + Road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 42"/>
          <p:cNvSpPr/>
          <p:nvPr/>
        </p:nvSpPr>
        <p:spPr>
          <a:xfrm>
            <a:off x="6199632" y="5093208"/>
            <a:ext cx="12024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Recommended Route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 43"/>
          <p:cNvSpPr/>
          <p:nvPr/>
        </p:nvSpPr>
        <p:spPr>
          <a:xfrm>
            <a:off x="7429500" y="4663440"/>
            <a:ext cx="1257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22%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 44"/>
          <p:cNvSpPr/>
          <p:nvPr/>
        </p:nvSpPr>
        <p:spPr>
          <a:xfrm>
            <a:off x="7456932" y="5093208"/>
            <a:ext cx="12024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Est. Cost Saving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8686800" y="4663440"/>
            <a:ext cx="1257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16 Hours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 46"/>
          <p:cNvSpPr/>
          <p:nvPr/>
        </p:nvSpPr>
        <p:spPr>
          <a:xfrm>
            <a:off x="8714232" y="5093208"/>
            <a:ext cx="12024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Est. ETA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 47"/>
          <p:cNvSpPr/>
          <p:nvPr/>
        </p:nvSpPr>
        <p:spPr>
          <a:xfrm>
            <a:off x="9944100" y="4663440"/>
            <a:ext cx="1257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20D8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96%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 48"/>
          <p:cNvSpPr/>
          <p:nvPr/>
        </p:nvSpPr>
        <p:spPr>
          <a:xfrm>
            <a:off x="9971532" y="5093208"/>
            <a:ext cx="12024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Confidence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 49"/>
          <p:cNvSpPr/>
          <p:nvPr/>
        </p:nvSpPr>
        <p:spPr>
          <a:xfrm>
            <a:off x="548640" y="6044184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Demonstration example — illustrative figures, not experimentally validated results.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 5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21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19600" y="2608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WINDOW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764540"/>
            <a:ext cx="10923905" cy="58375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19600" y="2608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WINDOW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745490"/>
            <a:ext cx="10541000" cy="58902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74060" y="1187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05180" y="8864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8385" y="1734820"/>
            <a:ext cx="103219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[1] P. E. Hart, N. J. Nilsson, and B. Raphael, “A formal basis for the heuristic determination of minimum cost paths,” IEEE Transactions on Systems Science and Cybernetics, vol. 4, no. 2, pp. 100–107, 1968.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[2] J. R. Quinlan, “Induction of decision trees,” Machine Learning, vol. 1, pp. 81–106, 1986.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[3] A. K. Mackworth, “Consistency in networks of relations,” Artificial Intelligence, vol. 8, no. 1, pp. 99–118, 1977.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[4] R. S. Sutton and A. G. Barto, Reinforcement Learning: An Introduction, 2nd ed., MIT Press, 2018.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[5] M. Christopher, Logistics &amp; Supply Chain Management, 5th ed., Pearson, 2016.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proj/assets/hero_bg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9144000" y="1828800"/>
            <a:ext cx="9144" cy="160020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ysDot"/>
          </a:ln>
        </p:spPr>
      </p:sp>
      <p:sp>
        <p:nvSpPr>
          <p:cNvPr id="10" name="Shape 1"/>
          <p:cNvSpPr/>
          <p:nvPr/>
        </p:nvSpPr>
        <p:spPr>
          <a:xfrm flipV="1">
            <a:off x="9144000" y="2934511"/>
            <a:ext cx="1521881" cy="494489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ysDot"/>
          </a:ln>
        </p:spPr>
      </p:sp>
      <p:sp>
        <p:nvSpPr>
          <p:cNvPr id="13" name="Shape 2"/>
          <p:cNvSpPr/>
          <p:nvPr/>
        </p:nvSpPr>
        <p:spPr>
          <a:xfrm>
            <a:off x="9144000" y="3429000"/>
            <a:ext cx="940574" cy="1294589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ysDot"/>
          </a:ln>
        </p:spPr>
      </p:sp>
      <p:sp>
        <p:nvSpPr>
          <p:cNvPr id="16" name="Shape 3"/>
          <p:cNvSpPr/>
          <p:nvPr/>
        </p:nvSpPr>
        <p:spPr>
          <a:xfrm flipH="1">
            <a:off x="8203426" y="3429000"/>
            <a:ext cx="940574" cy="1294589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ysDot"/>
          </a:ln>
        </p:spPr>
      </p:sp>
      <p:sp>
        <p:nvSpPr>
          <p:cNvPr id="20" name="Shape 4"/>
          <p:cNvSpPr/>
          <p:nvPr/>
        </p:nvSpPr>
        <p:spPr>
          <a:xfrm flipH="1" flipV="1">
            <a:off x="7622119" y="2934511"/>
            <a:ext cx="1521881" cy="494489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ysDot"/>
          </a:ln>
        </p:spPr>
      </p:sp>
      <p:sp>
        <p:nvSpPr>
          <p:cNvPr id="23" name="Shape 5"/>
          <p:cNvSpPr/>
          <p:nvPr/>
        </p:nvSpPr>
        <p:spPr>
          <a:xfrm>
            <a:off x="8572500" y="2857500"/>
            <a:ext cx="1143000" cy="1143000"/>
          </a:xfrm>
          <a:prstGeom prst="ellipse">
            <a:avLst/>
          </a:prstGeom>
          <a:solidFill>
            <a:srgbClr val="FFFFFF"/>
          </a:solidFill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1" descr="/home/claude/proj/assets/brain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3086100"/>
            <a:ext cx="685800" cy="685800"/>
          </a:xfrm>
          <a:prstGeom prst="rect">
            <a:avLst/>
          </a:prstGeom>
        </p:spPr>
      </p:pic>
      <p:sp>
        <p:nvSpPr>
          <p:cNvPr id="29" name="Shape 6"/>
          <p:cNvSpPr/>
          <p:nvPr/>
        </p:nvSpPr>
        <p:spPr>
          <a:xfrm>
            <a:off x="8741664" y="1426464"/>
            <a:ext cx="804672" cy="804672"/>
          </a:xfrm>
          <a:prstGeom prst="ellipse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2" name="Image 2" descr="/home/claude/proj/assets/tru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692" y="1603492"/>
            <a:ext cx="450616" cy="450616"/>
          </a:xfrm>
          <a:prstGeom prst="rect">
            <a:avLst/>
          </a:prstGeom>
        </p:spPr>
      </p:pic>
      <p:sp>
        <p:nvSpPr>
          <p:cNvPr id="36" name="Shape 7"/>
          <p:cNvSpPr/>
          <p:nvPr/>
        </p:nvSpPr>
        <p:spPr>
          <a:xfrm>
            <a:off x="10263545" y="2532175"/>
            <a:ext cx="804672" cy="804672"/>
          </a:xfrm>
          <a:prstGeom prst="ellipse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9" name="Image 3" descr="/home/claude/proj/assets/train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572" y="2709203"/>
            <a:ext cx="450616" cy="450616"/>
          </a:xfrm>
          <a:prstGeom prst="rect">
            <a:avLst/>
          </a:prstGeom>
        </p:spPr>
      </p:pic>
      <p:sp>
        <p:nvSpPr>
          <p:cNvPr id="42" name="Shape 8"/>
          <p:cNvSpPr/>
          <p:nvPr/>
        </p:nvSpPr>
        <p:spPr>
          <a:xfrm>
            <a:off x="9682238" y="4321253"/>
            <a:ext cx="804672" cy="804672"/>
          </a:xfrm>
          <a:prstGeom prst="ellipse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45" name="Image 4" descr="/home/claude/proj/assets/shi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266" y="4498281"/>
            <a:ext cx="450616" cy="450616"/>
          </a:xfrm>
          <a:prstGeom prst="rect">
            <a:avLst/>
          </a:prstGeom>
        </p:spPr>
      </p:pic>
      <p:sp>
        <p:nvSpPr>
          <p:cNvPr id="48" name="Shape 9"/>
          <p:cNvSpPr/>
          <p:nvPr/>
        </p:nvSpPr>
        <p:spPr>
          <a:xfrm>
            <a:off x="7801090" y="4321253"/>
            <a:ext cx="804672" cy="804672"/>
          </a:xfrm>
          <a:prstGeom prst="ellipse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1" name="Image 5" descr="/home/claude/proj/assets/warehous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118" y="4498281"/>
            <a:ext cx="450616" cy="450616"/>
          </a:xfrm>
          <a:prstGeom prst="rect">
            <a:avLst/>
          </a:prstGeom>
        </p:spPr>
      </p:pic>
      <p:sp>
        <p:nvSpPr>
          <p:cNvPr id="54" name="Shape 10"/>
          <p:cNvSpPr/>
          <p:nvPr/>
        </p:nvSpPr>
        <p:spPr>
          <a:xfrm>
            <a:off x="7219783" y="2532175"/>
            <a:ext cx="804672" cy="804672"/>
          </a:xfrm>
          <a:prstGeom prst="ellipse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7" name="Image 6" descr="/home/claude/proj/assets/plan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811" y="2709203"/>
            <a:ext cx="450616" cy="450616"/>
          </a:xfrm>
          <a:prstGeom prst="rect">
            <a:avLst/>
          </a:prstGeom>
        </p:spPr>
      </p:pic>
      <p:sp>
        <p:nvSpPr>
          <p:cNvPr id="60" name="Text 11"/>
          <p:cNvSpPr/>
          <p:nvPr/>
        </p:nvSpPr>
        <p:spPr>
          <a:xfrm>
            <a:off x="777240" y="233172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2" name="Shape 12"/>
          <p:cNvSpPr/>
          <p:nvPr/>
        </p:nvSpPr>
        <p:spPr>
          <a:xfrm>
            <a:off x="822960" y="3337560"/>
            <a:ext cx="914400" cy="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5" name="Text 13"/>
          <p:cNvSpPr/>
          <p:nvPr/>
        </p:nvSpPr>
        <p:spPr>
          <a:xfrm>
            <a:off x="777240" y="352044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9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Multi-Modal Logistics Optimization Platform</a:t>
            </a:r>
            <a:endParaRPr lang="en-US" sz="1600" dirty="0"/>
          </a:p>
        </p:txBody>
      </p:sp>
      <p:sp>
        <p:nvSpPr>
          <p:cNvPr id="74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8153</Words>
  <Application>WPS Presentation</Application>
  <PresentationFormat>Widescreen</PresentationFormat>
  <Paragraphs>863</Paragraphs>
  <Slides>29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Aptos</vt:lpstr>
      <vt:lpstr>Segoe UI</vt:lpstr>
      <vt:lpstr>Consolas</vt:lpstr>
      <vt:lpstr>Calibri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teekaraman</cp:lastModifiedBy>
  <cp:revision>8</cp:revision>
  <dcterms:created xsi:type="dcterms:W3CDTF">2026-08-17T04:52:00Z</dcterms:created>
  <dcterms:modified xsi:type="dcterms:W3CDTF">2026-08-31T05:01:19Z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C75649665F054309BF708988D626573C_13</vt:lpwstr>
  </property>
</Properties>
</file>