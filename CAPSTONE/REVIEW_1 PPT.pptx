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79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10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3B82F6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480560"/>
            <a:ext cx="5943600" cy="5943600"/>
          </a:xfrm>
          <a:prstGeom prst="ellipse">
            <a:avLst/>
          </a:prstGeom>
          <a:solidFill>
            <a:srgbClr val="8B5CF6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087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1973" y="790407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</a:t>
            </a: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Logistics &amp; Transportation </a:t>
            </a: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decision-intelligence system unifying road, rail, sea &amp; air logistics — optimizing routes, fleets and warehouses in real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3605754" cy="1207008"/>
          </a:xfrm>
          <a:prstGeom prst="roundRect">
            <a:avLst>
              <a:gd name="adj" fmla="val 10606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633472"/>
            <a:ext cx="512064" cy="51206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9" name="Image 0" descr="/home/claude/logistics_pptx/icons/brain_22D3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2756367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5024" y="2615184"/>
            <a:ext cx="26913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68096" y="3172968"/>
            <a:ext cx="3166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drive predictive, autonomous decisions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37274" y="2487168"/>
            <a:ext cx="3605754" cy="1207008"/>
          </a:xfrm>
          <a:prstGeom prst="roundRect">
            <a:avLst>
              <a:gd name="adj" fmla="val 10606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38442" y="2633472"/>
            <a:ext cx="512064" cy="51206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4" name="Image 1" descr="/home/claude/logistics_pptx/icons/truck_3B82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37" y="2756367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3658" y="2615184"/>
            <a:ext cx="26913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56730" y="3172968"/>
            <a:ext cx="3166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coordination across truck, train, ship &amp; air freight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8125907" y="2487168"/>
            <a:ext cx="3605754" cy="1207008"/>
          </a:xfrm>
          <a:prstGeom prst="roundRect">
            <a:avLst>
              <a:gd name="adj" fmla="val 10606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7075" y="2633472"/>
            <a:ext cx="512064" cy="51206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9" name="Image 2" descr="/home/claude/logistics_pptx/icons/boxes_8B5C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970" y="2756367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12291" y="2615184"/>
            <a:ext cx="26913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45363" y="3172968"/>
            <a:ext cx="3166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supply chain visibility &amp; coordination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605754" cy="1207008"/>
          </a:xfrm>
          <a:prstGeom prst="roundRect">
            <a:avLst>
              <a:gd name="adj" fmla="val 10606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3986784"/>
            <a:ext cx="512064" cy="51206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24" name="Image 3" descr="/home/claude/logistics_pptx/icons/route_22D3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03" y="410967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35024" y="3968496"/>
            <a:ext cx="26913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68096" y="4526280"/>
            <a:ext cx="3166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fleets &amp; shipment movement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4337274" y="3840480"/>
            <a:ext cx="3605754" cy="1207008"/>
          </a:xfrm>
          <a:prstGeom prst="roundRect">
            <a:avLst>
              <a:gd name="adj" fmla="val 10606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38442" y="3986784"/>
            <a:ext cx="512064" cy="51206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9" name="Image 4" descr="/home/claude/logistics_pptx/icons/chart_3B82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1337" y="4109679"/>
            <a:ext cx="266273" cy="26627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23658" y="3968496"/>
            <a:ext cx="26913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556730" y="4526280"/>
            <a:ext cx="3166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efficiency for cost, time &amp; resources</a:t>
            </a:r>
            <a:endParaRPr lang="en-US" sz="930" dirty="0"/>
          </a:p>
        </p:txBody>
      </p:sp>
      <p:sp>
        <p:nvSpPr>
          <p:cNvPr id="32" name="Shape 25"/>
          <p:cNvSpPr/>
          <p:nvPr/>
        </p:nvSpPr>
        <p:spPr>
          <a:xfrm>
            <a:off x="8125907" y="3840480"/>
            <a:ext cx="3605754" cy="1207008"/>
          </a:xfrm>
          <a:prstGeom prst="roundRect">
            <a:avLst>
              <a:gd name="adj" fmla="val 10606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7075" y="3986784"/>
            <a:ext cx="512064" cy="51206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4" name="Image 5" descr="/home/claude/logistics_pptx/icons/layers_8B5CF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970" y="4109679"/>
            <a:ext cx="266273" cy="26627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12291" y="3968496"/>
            <a:ext cx="269135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8345363" y="4526280"/>
            <a:ext cx="3166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scalable enterprise software system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548640" y="5394960"/>
            <a:ext cx="11091672" cy="1051560"/>
          </a:xfrm>
          <a:prstGeom prst="roundRect">
            <a:avLst>
              <a:gd name="adj" fmla="val 12174"/>
            </a:avLst>
          </a:prstGeom>
          <a:solidFill>
            <a:srgbClr val="13233F">
              <a:alpha val="9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74420" y="5577840"/>
            <a:ext cx="685800" cy="6858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9" name="Image 6" descr="/home/claude/logistics_pptx/icons/globe_22D3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9012" y="5742432"/>
            <a:ext cx="356616" cy="35661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965960" y="5522976"/>
            <a:ext cx="9418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SCALE  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Flipkart's Big Billion Days &amp; Amazon's Great Indian Festival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millions of parcels across trucks, trains, ships &amp; flights simultaneously — this platform models exactly that complexity, optimizing every leg in real time.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210522D-9AF2-0E66-A3D6-36DE3F7259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89" y="54864"/>
            <a:ext cx="12088962" cy="8496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-2743200"/>
            <a:ext cx="6858000" cy="6858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5888" y="8864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850" y="1161829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Domain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850" y="17510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intelligent platform spanning seven interconnected disciplines.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flipV="1">
            <a:off x="6096030" y="2635758"/>
            <a:ext cx="9144" cy="564642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999596" y="3110042"/>
            <a:ext cx="1439240" cy="725826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51114" y="4258736"/>
            <a:ext cx="2139219" cy="283125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97147" y="4816467"/>
            <a:ext cx="397942" cy="793985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6973" y="4816467"/>
            <a:ext cx="397942" cy="793985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1729" y="4258736"/>
            <a:ext cx="2139219" cy="283125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753225" y="3110042"/>
            <a:ext cx="1439240" cy="725826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5910" y="3200400"/>
            <a:ext cx="1920240" cy="1920240"/>
          </a:xfrm>
          <a:prstGeom prst="ellipse">
            <a:avLst/>
          </a:prstGeom>
          <a:solidFill>
            <a:srgbClr val="16233F">
              <a:alpha val="95000"/>
            </a:srgbClr>
          </a:solidFill>
          <a:ln w="25400">
            <a:solidFill>
              <a:srgbClr val="8B5CF6"/>
            </a:solidFill>
            <a:prstDash val="solid"/>
          </a:ln>
          <a:effectLst>
            <a:outerShdw blurRad="228600" dist="50800" dir="16200000" algn="bl" rotWithShape="0">
              <a:srgbClr val="8B5CF6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45638" y="3310128"/>
            <a:ext cx="1700784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 &amp;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1610" y="189738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04490" y="2057400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7" name="Image 0" descr="/home/claude/logistics_pptx/icons/truck_3B82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218" y="216712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07410" y="18973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74436" y="2603156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57316" y="2763176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21" name="Image 1" descr="/home/claude/logistics_pptx/icons/route_22D3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044" y="287290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60236" y="260315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077818" y="418902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260698" y="4349040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5" name="Image 2" descr="/home/claude/logistics_pptx/icons/chart_8B5C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426" y="445876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763618" y="41890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826792" y="5460784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009672" y="5620804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9" name="Image 3" descr="/home/claude/logistics_pptx/icons/globe_3B82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400" y="573053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12592" y="5460784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Web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16429" y="5460784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399309" y="5620804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3" name="Image 4" descr="/home/claude/logistics_pptx/icons/warehouse_22D3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9037" y="573053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02229" y="5460784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965403" y="418902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148283" y="4349040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7" name="Image 5" descr="/home/claude/logistics_pptx/icons/brain_8B5C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8011" y="4458768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51203" y="41890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1768785" y="2603156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1951665" y="2763176"/>
            <a:ext cx="457200" cy="45720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41" name="Image 6" descr="/home/claude/logistics_pptx/icons/boxes_3B82F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1393" y="2872904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454585" y="260315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2A95938-8885-52C6-4793-8183F169A8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69" y="64731"/>
            <a:ext cx="12088962" cy="849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00400"/>
            <a:ext cx="5943600" cy="5943600"/>
          </a:xfrm>
          <a:prstGeom prst="ellipse">
            <a:avLst/>
          </a:prstGeom>
          <a:solidFill>
            <a:srgbClr val="8B5CF6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5632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37008" y="131381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full-stack foundation engineered for scale, intelligence and real-time performance.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78242" y="179222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9" name="Image 0" descr="/home/claude/logistics_pptx/icons/code_22D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94" y="1932676"/>
            <a:ext cx="304312" cy="304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6888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" y="290779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Tailwind CSS  ·  Recharts  ·  Mapbox / Leaflet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40532" y="162763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574" y="179222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4" name="Image 1" descr="/home/claude/logistics_pptx/icons/server_3B82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026" y="1932676"/>
            <a:ext cx="304312" cy="304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31972" y="246888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68548" y="290779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REST APIs  ·  WebSockets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23864" y="162763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44905" y="179222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9" name="Image 2" descr="/home/claude/logistics_pptx/icons/database_8B5C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357" y="1932676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5304" y="246888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51880" y="290779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PostgreSQL  ·  Redis Cache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107195" y="162763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28237" y="179222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24" name="Image 3" descr="/home/claude/logistics_pptx/icons/cubes_22D3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689" y="1932676"/>
            <a:ext cx="304312" cy="304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98635" y="246888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 &amp; Algorithms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35211" y="290779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&amp; A*  ·  Graph Theory  ·  Priority Queues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898866" y="377647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919908" y="394106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9" name="Image 4" descr="/home/claude/logistics_pptx/icons/brain_3B82F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0360" y="4081516"/>
            <a:ext cx="304312" cy="3043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990306" y="461772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2026882" y="505663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Prediction ML  ·  Demand Forecasting  ·  Reinforcement Learning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782198" y="377647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803240" y="394106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4" name="Image 5" descr="/home/claude/logistics_pptx/icons/chartPie_8B5C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91" y="4081516"/>
            <a:ext cx="304312" cy="304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873638" y="461772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910214" y="505663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 ·  Live Dashboards  ·  GeoSpatial Maps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7665530" y="3776472"/>
            <a:ext cx="2627300" cy="1874520"/>
          </a:xfrm>
          <a:prstGeom prst="roundRect">
            <a:avLst>
              <a:gd name="adj" fmla="val 6829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686571" y="3941064"/>
            <a:ext cx="585216" cy="585216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9" name="Image 6" descr="/home/claude/logistics_pptx/icons/truck_22D3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7023" y="4081516"/>
            <a:ext cx="304312" cy="3043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756969" y="4617720"/>
            <a:ext cx="2444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Components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7793546" y="5056632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 ·  Warehouse Mgmt  ·  Multi-Modal Routing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 +  </a:t>
            </a:r>
            <a:r>
              <a:rPr lang="en-US" sz="145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r>
              <a:rPr lang="en-US" sz="14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r>
              <a:rPr lang="en-US" sz="145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Intelligence</a:t>
            </a:r>
            <a:endParaRPr lang="en-US" sz="14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2B561B6-C757-C2CB-B99E-64570CDB63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95" y="54864"/>
            <a:ext cx="12088962" cy="849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2377440"/>
            <a:ext cx="6217920" cy="621792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377440"/>
            <a:ext cx="6217920" cy="6217920"/>
          </a:xfrm>
          <a:prstGeom prst="ellipse">
            <a:avLst/>
          </a:prstGeom>
          <a:solidFill>
            <a:srgbClr val="8B5CF6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5612" y="954556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96519" y="1441856"/>
            <a:ext cx="11091672" cy="868680"/>
          </a:xfrm>
          <a:prstGeom prst="roundRect">
            <a:avLst>
              <a:gd name="adj" fmla="val 14737"/>
            </a:avLst>
          </a:prstGeom>
          <a:solidFill>
            <a:srgbClr val="13233F">
              <a:alpha val="9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1074420" y="1559508"/>
            <a:ext cx="594360" cy="548640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0" descr="/home/claude/logistics_pptx/icons/exclaim_22D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066" y="1630527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53162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Flipkart's Big Billion Days &amp; Amazon's Great Indian Festival,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volumes spike 5-10x overnight — exposing critical gaps in logistics infrastructure.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1714134" cy="1965960"/>
          </a:xfrm>
          <a:prstGeom prst="roundRect">
            <a:avLst>
              <a:gd name="adj" fmla="val 746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12515" y="2624328"/>
            <a:ext cx="603504" cy="60350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2" name="Image 1" descr="/home/claude/logistics_pptx/icons/clock_22D3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356" y="276916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3337560"/>
            <a:ext cx="15312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2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03504" y="3840480"/>
            <a:ext cx="1421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windows slip 2-3x at peak demand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372502" y="31318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2847990" y="2423160"/>
            <a:ext cx="1714134" cy="1965960"/>
          </a:xfrm>
          <a:prstGeom prst="roundRect">
            <a:avLst>
              <a:gd name="adj" fmla="val 746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03305" y="2624328"/>
            <a:ext cx="603504" cy="60350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8" name="Image 2" descr="/home/claude/logistics_pptx/icons/warehouse_3B82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146" y="2769169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39430" y="3337560"/>
            <a:ext cx="15312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</a:t>
            </a:r>
            <a:endParaRPr lang="en-US" sz="12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Congestion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2994294" y="3840480"/>
            <a:ext cx="1421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centers exceed 90% capacity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63292" y="31318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5238780" y="2423160"/>
            <a:ext cx="1714134" cy="1965960"/>
          </a:xfrm>
          <a:prstGeom prst="roundRect">
            <a:avLst>
              <a:gd name="adj" fmla="val 746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94096" y="2624328"/>
            <a:ext cx="603504" cy="60350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4" name="Image 3" descr="/home/claude/logistics_pptx/icons/route_8B5C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937" y="2769169"/>
            <a:ext cx="313822" cy="31382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30220" y="3337560"/>
            <a:ext cx="15312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</a:t>
            </a:r>
            <a:endParaRPr lang="en-US" sz="12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Inefficiencies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385084" y="3840480"/>
            <a:ext cx="1421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ignores live traffic &amp; demand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154083" y="31318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7629571" y="2423160"/>
            <a:ext cx="1714134" cy="1965960"/>
          </a:xfrm>
          <a:prstGeom prst="roundRect">
            <a:avLst>
              <a:gd name="adj" fmla="val 746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184886" y="2624328"/>
            <a:ext cx="603504" cy="60350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0" name="Image 4" descr="/home/claude/logistics_pptx/icons/dollar_22D3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9727" y="2769169"/>
            <a:ext cx="313822" cy="31382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21011" y="3337560"/>
            <a:ext cx="15312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</a:t>
            </a:r>
            <a:endParaRPr lang="en-US" sz="12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775875" y="3840480"/>
            <a:ext cx="1421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fleet costs rise 20-30% under surge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9544873" y="31318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Shape 27"/>
          <p:cNvSpPr/>
          <p:nvPr/>
        </p:nvSpPr>
        <p:spPr>
          <a:xfrm>
            <a:off x="10020361" y="2423160"/>
            <a:ext cx="1714134" cy="1965960"/>
          </a:xfrm>
          <a:prstGeom prst="roundRect">
            <a:avLst>
              <a:gd name="adj" fmla="val 7468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575676" y="2624328"/>
            <a:ext cx="603504" cy="603504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36" name="Image 5" descr="/home/claude/logistics_pptx/icons/users_3B82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0517" y="2769169"/>
            <a:ext cx="313822" cy="31382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801" y="3337560"/>
            <a:ext cx="15312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12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66665" y="3840480"/>
            <a:ext cx="14215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 misbalances fleet &amp; staff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57200" y="4709160"/>
            <a:ext cx="3515258" cy="1417320"/>
          </a:xfrm>
          <a:prstGeom prst="roundRect">
            <a:avLst>
              <a:gd name="adj" fmla="val 9032"/>
            </a:avLst>
          </a:prstGeom>
          <a:solidFill>
            <a:srgbClr val="13233F">
              <a:alpha val="90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457200" y="4855464"/>
            <a:ext cx="35152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5-10x</a:t>
            </a:r>
            <a:endParaRPr lang="en-US" sz="3400" dirty="0"/>
          </a:p>
        </p:txBody>
      </p:sp>
      <p:sp>
        <p:nvSpPr>
          <p:cNvPr id="41" name="Text 33"/>
          <p:cNvSpPr/>
          <p:nvPr/>
        </p:nvSpPr>
        <p:spPr>
          <a:xfrm>
            <a:off x="457200" y="560527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Surge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4338218" y="4709160"/>
            <a:ext cx="3515258" cy="1417320"/>
          </a:xfrm>
          <a:prstGeom prst="roundRect">
            <a:avLst>
              <a:gd name="adj" fmla="val 9032"/>
            </a:avLst>
          </a:prstGeom>
          <a:solidFill>
            <a:srgbClr val="13233F">
              <a:alpha val="90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4338218" y="4855464"/>
            <a:ext cx="35152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400" dirty="0"/>
          </a:p>
        </p:txBody>
      </p:sp>
      <p:sp>
        <p:nvSpPr>
          <p:cNvPr id="44" name="Text 36"/>
          <p:cNvSpPr/>
          <p:nvPr/>
        </p:nvSpPr>
        <p:spPr>
          <a:xfrm>
            <a:off x="4338218" y="560527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 Risk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219237" y="4709160"/>
            <a:ext cx="3515258" cy="1417320"/>
          </a:xfrm>
          <a:prstGeom prst="roundRect">
            <a:avLst>
              <a:gd name="adj" fmla="val 9032"/>
            </a:avLst>
          </a:prstGeom>
          <a:solidFill>
            <a:srgbClr val="13233F">
              <a:alpha val="90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8219237" y="4855464"/>
            <a:ext cx="35152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400" dirty="0"/>
          </a:p>
        </p:txBody>
      </p:sp>
      <p:sp>
        <p:nvSpPr>
          <p:cNvPr id="47" name="Text 39"/>
          <p:cNvSpPr/>
          <p:nvPr/>
        </p:nvSpPr>
        <p:spPr>
          <a:xfrm>
            <a:off x="8219237" y="560527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SLA Breaches</a:t>
            </a:r>
            <a:endParaRPr lang="en-US" sz="11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FB45B89-198C-177E-9DE7-0E2760756C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66" y="72541"/>
            <a:ext cx="12088962" cy="849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63AD17-19F5-5E77-AE36-7D0B8B72E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357875" cy="695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00300" y="-2090765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00400"/>
            <a:ext cx="5943600" cy="5943600"/>
          </a:xfrm>
          <a:prstGeom prst="ellipse">
            <a:avLst/>
          </a:prstGeom>
          <a:solidFill>
            <a:srgbClr val="8B5CF6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889395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811" y="1078339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155121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measurable outcomes anchored to one strategic objective.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2834640"/>
            <a:ext cx="2468880" cy="2468880"/>
          </a:xfrm>
          <a:prstGeom prst="ellipse">
            <a:avLst/>
          </a:prstGeom>
          <a:solidFill>
            <a:srgbClr val="16233F">
              <a:alpha val="95000"/>
            </a:srgbClr>
          </a:solidFill>
          <a:ln w="25400">
            <a:solidFill>
              <a:srgbClr val="22D3EE"/>
            </a:solidFill>
            <a:prstDash val="solid"/>
          </a:ln>
          <a:effectLst>
            <a:outerShdw blurRad="228600" dist="50800" dir="16200000" algn="bl" rotWithShape="0">
              <a:srgbClr val="22D3E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9718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7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 flipV="1">
            <a:off x="3566160" y="1734094"/>
            <a:ext cx="868680" cy="2334986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811" y="1506017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2" name="Image 0" descr="/home/claude/logistics_pptx/icons/route_22D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288" y="1615494"/>
            <a:ext cx="237201" cy="23720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66360" y="1463040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Optimization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06640" y="1417320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 powered shortest &amp; fastest paths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 flipV="1">
            <a:off x="3566160" y="2459083"/>
            <a:ext cx="868680" cy="1609997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2142309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811" y="2231005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8" name="Image 1" descr="/home/claude/logistics_pptx/icons/users_3B82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288" y="2340483"/>
            <a:ext cx="237201" cy="23720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2188029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406640" y="2142309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assignment of vehicles, drivers &amp; warehouses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 flipV="1">
            <a:off x="3566160" y="3184071"/>
            <a:ext cx="868680" cy="885009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34840" y="2867297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90811" y="2955994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4" name="Image 2" descr="/home/claude/logistics_pptx/icons/brain_8B5C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288" y="3065471"/>
            <a:ext cx="237201" cy="23720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66360" y="2913017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Decision Support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406640" y="2867297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guiding real-time logistics decisions</a:t>
            </a:r>
            <a:endParaRPr lang="en-US" sz="930" dirty="0"/>
          </a:p>
        </p:txBody>
      </p:sp>
      <p:sp>
        <p:nvSpPr>
          <p:cNvPr id="27" name="Shape 22"/>
          <p:cNvSpPr/>
          <p:nvPr/>
        </p:nvSpPr>
        <p:spPr>
          <a:xfrm flipV="1">
            <a:off x="3566160" y="3909060"/>
            <a:ext cx="868680" cy="160020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434840" y="3592286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90811" y="3680983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0" name="Image 3" descr="/home/claude/logistics_pptx/icons/network_22D3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288" y="3790460"/>
            <a:ext cx="237201" cy="23720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66360" y="3638006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Transportation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406640" y="3592286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coordination across road, rail, sea &amp; air</a:t>
            </a:r>
            <a:endParaRPr lang="en-US" sz="930" dirty="0"/>
          </a:p>
        </p:txBody>
      </p:sp>
      <p:sp>
        <p:nvSpPr>
          <p:cNvPr id="33" name="Shape 27"/>
          <p:cNvSpPr/>
          <p:nvPr/>
        </p:nvSpPr>
        <p:spPr>
          <a:xfrm>
            <a:off x="3566160" y="4069080"/>
            <a:ext cx="868680" cy="564969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434840" y="4317274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90811" y="4405971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36" name="Image 4" descr="/home/claude/logistics_pptx/icons/chart_3B82F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288" y="4515448"/>
            <a:ext cx="237201" cy="23720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66360" y="4362994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Analytics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7406640" y="4317274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for KPI monitoring &amp; insight</a:t>
            </a:r>
            <a:endParaRPr lang="en-US" sz="930" dirty="0"/>
          </a:p>
        </p:txBody>
      </p:sp>
      <p:sp>
        <p:nvSpPr>
          <p:cNvPr id="39" name="Shape 32"/>
          <p:cNvSpPr/>
          <p:nvPr/>
        </p:nvSpPr>
        <p:spPr>
          <a:xfrm>
            <a:off x="3566160" y="4069080"/>
            <a:ext cx="868680" cy="1289957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434840" y="5042263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590811" y="5130960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42" name="Image 5" descr="/home/claude/logistics_pptx/icons/dollar_8B5C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288" y="5240437"/>
            <a:ext cx="237201" cy="23720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166360" y="5087983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Reduction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7406640" y="5042263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operational &amp; fuel expenditure</a:t>
            </a:r>
            <a:endParaRPr lang="en-US" sz="930" dirty="0"/>
          </a:p>
        </p:txBody>
      </p:sp>
      <p:sp>
        <p:nvSpPr>
          <p:cNvPr id="45" name="Shape 37"/>
          <p:cNvSpPr/>
          <p:nvPr/>
        </p:nvSpPr>
        <p:spPr>
          <a:xfrm>
            <a:off x="3566160" y="4069080"/>
            <a:ext cx="868680" cy="2014946"/>
          </a:xfrm>
          <a:prstGeom prst="line">
            <a:avLst/>
          </a:prstGeom>
          <a:noFill/>
          <a:ln w="15875">
            <a:solidFill>
              <a:srgbClr val="2E4468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434840" y="5767251"/>
            <a:ext cx="7178040" cy="633549"/>
          </a:xfrm>
          <a:prstGeom prst="roundRect">
            <a:avLst>
              <a:gd name="adj" fmla="val 14433"/>
            </a:avLst>
          </a:prstGeom>
          <a:solidFill>
            <a:srgbClr val="0F1E36">
              <a:alpha val="82000"/>
            </a:srgbClr>
          </a:solidFill>
          <a:ln w="12700">
            <a:solidFill>
              <a:srgbClr val="243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590811" y="5855948"/>
            <a:ext cx="456155" cy="456155"/>
          </a:xfrm>
          <a:prstGeom prst="ellipse">
            <a:avLst/>
          </a:prstGeom>
          <a:solidFill>
            <a:srgbClr val="0B183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48" name="Image 6" descr="/home/claude/logistics_pptx/icons/bolt_22D3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288" y="5965425"/>
            <a:ext cx="237201" cy="237201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5166360" y="5812971"/>
            <a:ext cx="2103120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 Delivery Performance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7406640" y="5767251"/>
            <a:ext cx="40233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reliable, on-time delivery at scale</a:t>
            </a:r>
            <a:endParaRPr lang="en-US" sz="93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681DD98-0D8C-7615-F4FB-F02BACA5FB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19" y="64498"/>
            <a:ext cx="12088962" cy="849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441</Words>
  <Application>Microsoft Office PowerPoint</Application>
  <PresentationFormat>Widescreen</PresentationFormat>
  <Paragraphs>106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darwinjacobb37@gmail.com</cp:lastModifiedBy>
  <cp:revision>4</cp:revision>
  <dcterms:created xsi:type="dcterms:W3CDTF">2026-08-02T13:11:56Z</dcterms:created>
  <dcterms:modified xsi:type="dcterms:W3CDTF">2026-08-03T05:12:33Z</dcterms:modified>
</cp:coreProperties>
</file>